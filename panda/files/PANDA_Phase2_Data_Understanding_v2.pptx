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Stockout_Flag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F9A88"/>
              </a:solidFill>
              <a:ln w="6350" cap="flat">
                <a:solidFill>
                  <a:srgbClr val="295435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CD-4DC4-86DE-97D34E157E2B}"/>
              </c:ext>
            </c:extLst>
          </c:dPt>
          <c:dPt>
            <c:idx val="1"/>
            <c:bubble3D val="0"/>
            <c:spPr>
              <a:solidFill>
                <a:srgbClr val="E44A31"/>
              </a:solidFill>
              <a:ln w="6350" cap="flat">
                <a:solidFill>
                  <a:srgbClr val="295435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CD-4DC4-86DE-97D34E157E2B}"/>
              </c:ext>
            </c:extLst>
          </c:dPt>
          <c:cat>
            <c:strRef>
              <c:f>Sheet1!$A$2:$A$3</c:f>
              <c:strCache>
                <c:ptCount val="2"/>
                <c:pt idx="0">
                  <c:v>In stock (0)</c:v>
                </c:pt>
                <c:pt idx="1">
                  <c:v>Stockout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974587</c:v>
                </c:pt>
                <c:pt idx="1">
                  <c:v>25413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CD-4DC4-86DE-97D34E157E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2B22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1D2B22"/>
                </a:solidFill>
                <a:latin typeface="+mn-lt"/>
              </a:rPr>
              <a:t>Missing values (% of 1,000,000 records)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29543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91A-4A04-8F4F-096B3BC9D4DF}"/>
              </c:ext>
            </c:extLst>
          </c:dPt>
          <c:dPt>
            <c:idx val="1"/>
            <c:invertIfNegative val="0"/>
            <c:bubble3D val="0"/>
            <c:spPr>
              <a:solidFill>
                <a:srgbClr val="7F9A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91A-4A04-8F4F-096B3BC9D4DF}"/>
              </c:ext>
            </c:extLst>
          </c:dPt>
          <c:dPt>
            <c:idx val="2"/>
            <c:invertIfNegative val="0"/>
            <c:bubble3D val="0"/>
            <c:spPr>
              <a:solidFill>
                <a:srgbClr val="7F9A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91A-4A04-8F4F-096B3BC9D4DF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D2B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Supplier_Fill_Rate</c:v>
                </c:pt>
                <c:pt idx="1">
                  <c:v>Remaining_Shelf_Life_Days</c:v>
                </c:pt>
                <c:pt idx="2">
                  <c:v>Store_Footfall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8.0299999999999994</c:v>
                </c:pt>
                <c:pt idx="1">
                  <c:v>5.0199999999999996</c:v>
                </c:pt>
                <c:pt idx="2">
                  <c:v>4.0199999999999996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91A-4A04-8F4F-096B3BC9D4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E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B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.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2B2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D2B22"/>
                </a:solidFill>
                <a:latin typeface="+mn-lt"/>
              </a:rPr>
              <a:t>Mean waste per record (units) by remaining shelf life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44A3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189-4B13-A7A5-AD4A3ED271B9}"/>
              </c:ext>
            </c:extLst>
          </c:dPt>
          <c:dPt>
            <c:idx val="1"/>
            <c:invertIfNegative val="0"/>
            <c:bubble3D val="0"/>
            <c:spPr>
              <a:solidFill>
                <a:srgbClr val="7F9A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189-4B13-A7A5-AD4A3ED271B9}"/>
              </c:ext>
            </c:extLst>
          </c:dPt>
          <c:dPt>
            <c:idx val="2"/>
            <c:invertIfNegative val="0"/>
            <c:bubble3D val="0"/>
            <c:spPr>
              <a:solidFill>
                <a:srgbClr val="7F9A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189-4B13-A7A5-AD4A3ED271B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D2B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 days left</c:v>
                </c:pt>
                <c:pt idx="1">
                  <c:v>3 days left</c:v>
                </c:pt>
                <c:pt idx="2">
                  <c:v>4–29 days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7.29</c:v>
                </c:pt>
                <c:pt idx="1">
                  <c:v>0.66</c:v>
                </c:pt>
                <c:pt idx="2">
                  <c:v>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189-4B13-A7A5-AD4A3ED271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E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9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2B2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D2B22"/>
                </a:solidFill>
                <a:latin typeface="+mn-lt"/>
              </a:rPr>
              <a:t>Mean waste by inventory ÷ (units sold + 1), quintile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 days left</c:v>
                </c:pt>
              </c:strCache>
            </c:strRef>
          </c:tx>
          <c:spPr>
            <a:solidFill>
              <a:srgbClr val="E44A3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D2B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Q1 (≤ 0.80)</c:v>
                </c:pt>
                <c:pt idx="1">
                  <c:v>Q3 (1.17–1.55)</c:v>
                </c:pt>
                <c:pt idx="2">
                  <c:v>Q5 (1.93–2.50)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2.99</c:v>
                </c:pt>
                <c:pt idx="1">
                  <c:v>6.65</c:v>
                </c:pt>
                <c:pt idx="2">
                  <c:v>13.36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F3-4D33-9146-82AF4C4745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3–29 days</c:v>
                </c:pt>
              </c:strCache>
            </c:strRef>
          </c:tx>
          <c:spPr>
            <a:solidFill>
              <a:srgbClr val="7F9A8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D2B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Q1 (≤ 0.80)</c:v>
                </c:pt>
                <c:pt idx="1">
                  <c:v>Q3 (1.17–1.55)</c:v>
                </c:pt>
                <c:pt idx="2">
                  <c:v>Q5 (1.93–2.50)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</c:v>
                </c:pt>
                <c:pt idx="1">
                  <c:v>0.59</c:v>
                </c:pt>
                <c:pt idx="2">
                  <c:v>1.31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F3-4D33-9146-82AF4C4745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ED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9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D2B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2B2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D2B22"/>
                </a:solidFill>
                <a:latin typeface="+mn-lt"/>
              </a:rPr>
              <a:t>Median units sold per record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7F9A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13E-48C9-B1D5-DDA7E3EDF101}"/>
              </c:ext>
            </c:extLst>
          </c:dPt>
          <c:dPt>
            <c:idx val="1"/>
            <c:invertIfNegative val="0"/>
            <c:bubble3D val="0"/>
            <c:spPr>
              <a:solidFill>
                <a:srgbClr val="2954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3E-48C9-B1D5-DDA7E3EDF101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D2B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promotion</c:v>
                </c:pt>
                <c:pt idx="1">
                  <c:v>Promotion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3E-48C9-B1D5-DDA7E3EDF1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E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9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2B2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D2B22"/>
                </a:solidFill>
                <a:latin typeface="+mn-lt"/>
              </a:rPr>
              <a:t>Mean units sold by footfall quintile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7F9A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50-447A-BFF3-0322ECC2B57E}"/>
              </c:ext>
            </c:extLst>
          </c:dPt>
          <c:dPt>
            <c:idx val="1"/>
            <c:invertIfNegative val="0"/>
            <c:bubble3D val="0"/>
            <c:spPr>
              <a:solidFill>
                <a:srgbClr val="2954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50-447A-BFF3-0322ECC2B57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D2B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Lowest footfall (Q1)</c:v>
                </c:pt>
                <c:pt idx="1">
                  <c:v>Highest footfall (Q5)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12.9</c:v>
                </c:pt>
                <c:pt idx="1">
                  <c:v>40.9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50-447A-BFF3-0322ECC2B5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E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9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2B2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D2B22"/>
                </a:solidFill>
                <a:latin typeface="+mn-lt"/>
              </a:rPr>
              <a:t>Mean units on hand during promotions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44A3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B1E-44AF-84D6-8D9D04F99085}"/>
              </c:ext>
            </c:extLst>
          </c:dPt>
          <c:dPt>
            <c:idx val="1"/>
            <c:invertIfNegative val="0"/>
            <c:bubble3D val="0"/>
            <c:spPr>
              <a:solidFill>
                <a:srgbClr val="2954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B1E-44AF-84D6-8D9D04F99085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D2B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Stockout records</c:v>
                </c:pt>
                <c:pt idx="1">
                  <c:v>In-stock records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18.329999999999998</c:v>
                </c:pt>
                <c:pt idx="1">
                  <c:v>53.85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1E-44AF-84D6-8D9D04F990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E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9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90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and roles transcribed as shown in the supplied Customer Engagement Insight Platform presentation,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PANDA.csv (1,000,000 records x 26 columns), profiled in the Phase 2 notebook. Synthetic academic dataset. Relationships are associations, not causal effects. No source data was modified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Synthetic academic dataset</a:t>
            </a:r>
            <a:endParaRPr lang="en-US" sz="900" dirty="0"/>
          </a:p>
        </p:txBody>
      </p:sp>
      <p:pic>
        <p:nvPicPr>
          <p:cNvPr id="3" name="Image 0" descr="/home/claude/build/assets/panda_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6382512"/>
            <a:ext cx="713232" cy="210312"/>
          </a:xfrm>
          <a:prstGeom prst="rect">
            <a:avLst/>
          </a:prstGeom>
        </p:spPr>
      </p:pic>
      <p:pic>
        <p:nvPicPr>
          <p:cNvPr id="4" name="Image 1" descr="/home/claude/build/assets/savo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345936"/>
            <a:ext cx="630936" cy="274320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15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cover_righ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0"/>
            <a:ext cx="6385255" cy="6858000"/>
          </a:xfrm>
          <a:prstGeom prst="rect">
            <a:avLst/>
          </a:prstGeom>
        </p:spPr>
      </p:pic>
      <p:pic>
        <p:nvPicPr>
          <p:cNvPr id="3" name="Image 1" descr="/home/claude/build/assets/apple_icon_white_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48640"/>
            <a:ext cx="603504" cy="694944"/>
          </a:xfrm>
          <a:prstGeom prst="rect">
            <a:avLst/>
          </a:prstGeom>
        </p:spPr>
      </p:pic>
      <p:pic>
        <p:nvPicPr>
          <p:cNvPr id="4" name="Image 2" descr="/home/claude/build/assets/panda_wo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758952"/>
            <a:ext cx="1298448" cy="38404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4008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PHASE 2: DATA UNDERSTANDING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25603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AI-Powered Fresh Food</a:t>
            </a:r>
            <a:endParaRPr lang="en-US" sz="3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3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Demand &amp; Inventory Optimization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4709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Phase 2: Data Understanding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640080" y="5623560"/>
            <a:ext cx="4846320" cy="0"/>
          </a:xfrm>
          <a:prstGeom prst="line">
            <a:avLst/>
          </a:prstGeom>
          <a:noFill/>
          <a:ln w="9525">
            <a:solidFill>
              <a:srgbClr val="527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 txBox="1"/>
          <p:nvPr/>
        </p:nvSpPr>
        <p:spPr>
          <a:xfrm>
            <a:off x="640080" y="5806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bg1"/>
                </a:solidFill>
              </a:rPr>
              <a:t>PANDA TEAM  /  EWA · InnovatiCS  /  Group 10</a:t>
            </a:r>
            <a:endParaRPr lang="en-US" sz="1100" dirty="0"/>
          </a:p>
        </p:txBody>
      </p:sp>
      <p:pic>
        <p:nvPicPr>
          <p:cNvPr id="10" name="Image 3" descr="/home/claude/build/assets/savo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5788152"/>
            <a:ext cx="841248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BUSINESS UNDERSTANDING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food forces a trade-off between availability and waste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02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120640" cy="4023360"/>
          </a:xfrm>
          <a:prstGeom prst="rect">
            <a:avLst/>
          </a:prstGeom>
          <a:solidFill>
            <a:schemeClr val="tx2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1488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Panda's store and DC replenishment of short-shelf-life products is driven by uncertain demand. Too much stock ends in markdown, expiry and disposal; too little ends in stockouts and lost sales.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3840480"/>
            <a:ext cx="2148840" cy="1508760"/>
          </a:xfrm>
          <a:prstGeom prst="rect">
            <a:avLst/>
          </a:prstGeom>
          <a:solidFill>
            <a:srgbClr val="34603F"/>
          </a:solidFill>
          <a:ln w="12700">
            <a:solidFill>
              <a:srgbClr val="346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051560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Overstock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4389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Markdown · expiry · waste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3840480"/>
            <a:ext cx="2148840" cy="1508760"/>
          </a:xfrm>
          <a:prstGeom prst="rect">
            <a:avLst/>
          </a:prstGeom>
          <a:solidFill>
            <a:srgbClr val="34603F"/>
          </a:solidFill>
          <a:ln w="12700">
            <a:solidFill>
              <a:srgbClr val="346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383280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Understock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4389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Stockouts · lost sales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BUSINESS OBJECTIVE — SCOPE: PRODUCT · SUPPLIER · STORE (PLAN B)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0" y="200253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035040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1965960"/>
            <a:ext cx="5150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Forecast demand (units sold)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35040" y="245973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035040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2423160"/>
            <a:ext cx="5150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stockout and near-expiry risk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035040" y="291693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03504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2880360"/>
            <a:ext cx="5150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Support replenishment decisions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429000"/>
          <a:ext cx="5608015" cy="212852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 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error (MAPE)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25–30%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15% (high-velocity SKUs)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 stockouts, fresh SKUs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8–12%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−25–30%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Fresh stock to markdown / expiry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−20–25%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On-shelf availability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+3–5%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Near-expiry risk recall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Baselines and targets are academic assumptions from the project brief, not verified Panda performance.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DATA OVERVIEW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million records over two years give broad coverage of stores and products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03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036003" cy="1965960"/>
          </a:xfrm>
          <a:prstGeom prst="rect">
            <a:avLst/>
          </a:prstGeom>
          <a:solidFill>
            <a:schemeClr val="tx2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95224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37744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1,000,000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926080"/>
            <a:ext cx="16702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Records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20040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26 columns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813243" y="1600200"/>
            <a:ext cx="2036003" cy="196596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41843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287" y="195224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041843" y="237744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730 days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3041843" y="2926080"/>
            <a:ext cx="16702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Time coverage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041843" y="320040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1 Jan 2025 – 31 Dec 2026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077846" y="1600200"/>
            <a:ext cx="2036003" cy="196596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306446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890" y="1952244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06446" y="237744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1,000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5306446" y="2926080"/>
            <a:ext cx="16702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Store IDs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306446" y="320040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30 DC IDs · 5 regions · 7 cities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342449" y="1600200"/>
            <a:ext cx="2036003" cy="196596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571049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493" y="1952244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571049" y="237744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149,827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7571049" y="2926080"/>
            <a:ext cx="16702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SKU IDs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7571049" y="320040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6 categories · 532,564 batches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9607052" y="1600200"/>
            <a:ext cx="2036003" cy="196596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9835652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9096" y="1952244"/>
            <a:ext cx="210312" cy="21031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835652" y="237744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12,000</a:t>
            </a:r>
            <a:endParaRPr lang="en-US" sz="2200" dirty="0"/>
          </a:p>
        </p:txBody>
      </p:sp>
      <p:sp>
        <p:nvSpPr>
          <p:cNvPr id="34" name="Text 26"/>
          <p:cNvSpPr txBox="1"/>
          <p:nvPr/>
        </p:nvSpPr>
        <p:spPr>
          <a:xfrm>
            <a:off x="9835652" y="2926080"/>
            <a:ext cx="16702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Supplier IDs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9835652" y="320040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Lead time 1–14 days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548640" y="3794760"/>
            <a:ext cx="1109441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 txBox="1"/>
          <p:nvPr/>
        </p:nvSpPr>
        <p:spPr>
          <a:xfrm>
            <a:off x="777240" y="379476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One row = </a:t>
            </a:r>
            <a:r>
              <a:rPr lang="en-US" sz="1300" dirty="0">
                <a:solidFill>
                  <a:schemeClr val="tx1"/>
                </a:solidFill>
              </a:rPr>
              <a:t>one inventory / sales observation for a store × SKU × batch on a date, with supplier, price, promotion, quantity, shelf-life and availability attributes.</a:t>
            </a:r>
            <a:endParaRPr lang="en-US" sz="1300" dirty="0"/>
          </a:p>
        </p:txBody>
      </p:sp>
      <p:sp>
        <p:nvSpPr>
          <p:cNvPr id="50" name="Text 42"/>
          <p:cNvSpPr txBox="1"/>
          <p:nvPr/>
        </p:nvSpPr>
        <p:spPr>
          <a:xfrm>
            <a:off x="9570476" y="4572000"/>
            <a:ext cx="2072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DATA OVERVIEW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targets, each with a distribution that shapes the modelling choice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04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484778" cy="4526280"/>
          </a:xfrm>
          <a:prstGeom prst="rect">
            <a:avLst/>
          </a:prstGeom>
          <a:solidFill>
            <a:schemeClr val="tx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731520" y="1737360"/>
          <a:ext cx="118872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2011680" y="1920240"/>
            <a:ext cx="1838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2.54%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2468880"/>
            <a:ext cx="1838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of records are stockouts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06324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Stockout_Flag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47472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2960" y="3886200"/>
            <a:ext cx="2936138" cy="0"/>
          </a:xfrm>
          <a:prstGeom prst="line">
            <a:avLst/>
          </a:prstGeom>
          <a:noFill/>
          <a:ln w="9525">
            <a:solidFill>
              <a:srgbClr val="527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822960" y="4023360"/>
            <a:ext cx="293613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25,413 stockouts vs 974,587 in stock (≈ 1 : 38)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Far below the 8–12% academic assumption, which covers a different scope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→ Class weights / resampling on training data; judge by recall and PR-AUC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53458" y="1600200"/>
            <a:ext cx="3484778" cy="452628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27778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944" y="2105406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27778" y="306324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Units_Sold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627778" y="347472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Regression · time series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27778" y="3886200"/>
            <a:ext cx="2936138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4627778" y="4023360"/>
            <a:ext cx="293613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Median 16 units (no promotion), 25 (promotion)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Strong right skew: skewness ≈ 21, max 5,092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→ Log transform, robust metrics (MAE); fix inflated values first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58277" y="1600200"/>
            <a:ext cx="3484778" cy="452628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8432597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7763" y="2105406"/>
            <a:ext cx="315468" cy="31546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432597" y="306324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Near-expiry risk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432597" y="347472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Classification (candidate)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432597" y="3886200"/>
            <a:ext cx="2936138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8432597" y="4023360"/>
            <a:ext cx="293613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7.15% of records have ≤ 3 days left; 3.6% have 2 days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Shelf life is uniform 2–29 days in every category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→ Business must approve the threshold per category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DATA AUDITING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is complete for IDs and dates; issues are concentrated and countable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05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83080"/>
          <a:ext cx="49377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251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Only three columns have gaps; rates are near-identical across promotion, stockout and category groups. 83.8% of records are fully complete.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691640"/>
          <a:ext cx="5790895" cy="3749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duplicate rows / duplicate IDs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Repeated Store × SKU × Date keys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category / brand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label variant (' produce ')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labels → 6 after normalising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Units_Sold inflated vs sales 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4–22× implied units (0.98%)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inventory but Stockout_Flag =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Contradicts stockout definition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at bounds (250 / 2 SAR)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at 250 · 231 at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IQR outliers in quantity columns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Mostly natural long tail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Dated after 28 Sep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128,686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12.87% synthetic future dates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or out-of-range values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69280"/>
            <a:ext cx="11094415" cy="50292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801868"/>
            <a:ext cx="237744" cy="23774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566928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No record was corrected or removed in Phase 2. Every issue is carried to the Phase 3 treatment plan.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DATA AUDITING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structural risks matter more for modelling than the missing values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06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567864" cy="374904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2080717"/>
            <a:ext cx="273406" cy="27340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060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Target leakage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06324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Stockout_Flag = 1 exactly when same-day OSA &lt; 90%. Same-day on-hand ÷ units is 0.40–0.55 for 25,398 of 25,413 stockouts.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4572000"/>
            <a:ext cx="2019224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822960" y="466344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Exclude same-day OSA and cover as predictors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90824" y="1645920"/>
            <a:ext cx="2567864" cy="374904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65144" y="19202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621" y="2080717"/>
            <a:ext cx="273406" cy="2734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65144" y="26060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Class imbalance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665144" y="306324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2.54% stockouts (≈1 : 38). Promotion and non-promotion rates are almost equal.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665144" y="4572000"/>
            <a:ext cx="2019224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3665144" y="466344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Resample on training data only; use PR-AUC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33008" y="1645920"/>
            <a:ext cx="2567864" cy="374904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07328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5" y="2080717"/>
            <a:ext cx="273406" cy="27340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507328" y="26060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Non-nested IDs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507328" y="306324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Every store appears in all 7 cities, 5 regions and 30 DCs; a SKU appears under ~4 categories.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507328" y="4572000"/>
            <a:ext cx="2019224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6507328" y="466344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Use location IDs as labels, not roll-ups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9075191" y="1645920"/>
            <a:ext cx="2567864" cy="374904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9349511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989" y="2080717"/>
            <a:ext cx="273406" cy="27340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349511" y="26060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Sparse history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349511" y="306324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99.67% of store–SKU pairs appear on one day only, so daily lag features cannot be built.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349511" y="4572000"/>
            <a:ext cx="2019224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 txBox="1"/>
          <p:nvPr/>
        </p:nvSpPr>
        <p:spPr>
          <a:xfrm>
            <a:off x="9349511" y="466344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Aggregate the grain for the ABT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48640" y="5577840"/>
            <a:ext cx="11094415" cy="50292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710428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43000" y="557784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Also noted: Temperature_Zone is independent of Category (≈33% each zone), and no seasonality, weekday or Ramadan effect is visible.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STATISTICAL ANALYSIS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Quantities are heavily skewed and move together; supply variables are flat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07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040880" cy="36576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 tendency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 / bounds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Units_Sold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16 → 25 with promotion; mean 24.55 → 38.98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5,092 (inflated records)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Skew ≈ 21.0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Waste_Qty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3.23% of units handled; 43.3% of records &gt; 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waste rate 3.20–3.27%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Skew ≈ 15.7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On_Hand_Qty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Stockout on promotion: mean 18.33 vs 53.85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Same-day cover separates stockouts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Skew ≈ 4.7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Regular_Price_SAR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associated with units (ρ ≈ 0.00)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2 – 250 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tail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Remaining_Shelf_Life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3 days in 7.15% of records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2 – 29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Lead_Time / Fill_Rate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7.50 days / 92.16%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time 1 – 14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vs stockout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On_Shelf_Availability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96.80%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Stockouts 50.0–89.9%; others 95–100%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Bimodal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001000" y="1645920"/>
            <a:ext cx="3642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Strongest Spearman associations (ρ)</a:t>
            </a:r>
            <a:endParaRPr lang="en-US" sz="1200" dirty="0"/>
          </a:p>
        </p:txBody>
      </p:sp>
      <p:sp>
        <p:nvSpPr>
          <p:cNvPr id="5" name="Text 4"/>
          <p:cNvSpPr txBox="1"/>
          <p:nvPr/>
        </p:nvSpPr>
        <p:spPr>
          <a:xfrm>
            <a:off x="8001000" y="2103120"/>
            <a:ext cx="3642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On_Hand ↔ Units_Sold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001000" y="2359152"/>
            <a:ext cx="2709832" cy="1828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783984" y="23042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0.876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001000" y="2651760"/>
            <a:ext cx="3642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Sales_Value ↔ Units_Sold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01000" y="2907792"/>
            <a:ext cx="2477826" cy="1828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10551978" y="2852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0.801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001000" y="3200400"/>
            <a:ext cx="3642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On_Hand ↔ Sales_Value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01000" y="3456432"/>
            <a:ext cx="2252006" cy="1828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10326158" y="34015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0.728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001000" y="3749040"/>
            <a:ext cx="3642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On_Hand ↔ Waste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01000" y="4005072"/>
            <a:ext cx="2072588" cy="18288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1014674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0.670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8001000" y="4297680"/>
            <a:ext cx="3642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Units_Sold ↔ Waste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001000" y="4553712"/>
            <a:ext cx="1818928" cy="18288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9893080" y="4498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0.588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8001000" y="4846320"/>
            <a:ext cx="3642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Units_Sold ↔ Footfall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001000" y="5102352"/>
            <a:ext cx="1361103" cy="18288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9435255" y="5047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0.440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847588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143000" y="571500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Shelf life affects waste non-linearly (a jump at 2 days), so its linear coefficient is near zero. The full Min / Max / Mean / Median / Mode / Variance / Std / IQR table is computed in the Phase 2 notebook.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KEY INSIGHTS · INFLUENCING FACTORS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 is a freshness-timing problem: 3.6% of records carry 27.8% of waste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08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035040" y="1600200"/>
          <a:ext cx="5608015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074920"/>
            <a:ext cx="11094415" cy="109728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 txBox="1"/>
          <p:nvPr/>
        </p:nvSpPr>
        <p:spPr>
          <a:xfrm>
            <a:off x="822960" y="5212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4"/>
                </a:solidFill>
              </a:rPr>
              <a:t>QUESTION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822960" y="54589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D4 / G2 — Why do waste quantities vary, and how much stock is near expiry?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120640" y="5212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BUSINESS MEANING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5120640" y="5458968"/>
            <a:ext cx="6248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Act 2–3 days before expiry (markdown or transfer) and order less when stock cover is high. Associations, not proven causes.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KEY INSIGHTS · INFLUENCING FACTORS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Promotions and store traffic drive demand; price on its own does not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09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3566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343400" y="1600200"/>
          <a:ext cx="3566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3"/>
          <p:cNvSpPr txBox="1"/>
          <p:nvPr/>
        </p:nvSpPr>
        <p:spPr>
          <a:xfrm>
            <a:off x="8229600" y="1645920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+56%</a:t>
            </a:r>
            <a:endParaRPr lang="en-US" sz="2200" dirty="0"/>
          </a:p>
        </p:txBody>
      </p:sp>
      <p:sp>
        <p:nvSpPr>
          <p:cNvPr id="9" name="Text 4"/>
          <p:cNvSpPr txBox="1"/>
          <p:nvPr/>
        </p:nvSpPr>
        <p:spPr>
          <a:xfrm>
            <a:off x="8229600" y="205740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median units on promotion, in all 6 categories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8229600" y="2450592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 3×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8229600" y="2862072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units from lowest to highest footfall quintile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8229600" y="3255264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ρ ≈ 0.00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8229600" y="3666744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regular price vs units sold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229600" y="4059936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2.49% vs 2.55%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8229600" y="4471416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stockout rate with vs without promotion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5074920"/>
            <a:ext cx="11094415" cy="109728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822960" y="5212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4"/>
                </a:solidFill>
              </a:rPr>
              <a:t>QUESTION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4589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D2 / G3 — What drives units sold, and do promotions raise stockouts?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120640" y="5212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BUSINESS MEANING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120640" y="5458968"/>
            <a:ext cx="6248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Forecasts must include promotion and traffic signals. Promotions lift demand without raising stockouts in the pooled data.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KEY INSIGHTS · INFLUENCING FACTORS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Stockouts follow stock levels, not supplier performance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10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38404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45920"/>
          <a:ext cx="6979615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or segment signal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observed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Stockout rate by lead time (1–14 days)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2.46–2.62%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time: stockout vs in stock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7.49 vs 7.50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OSA by supplier fill-rate quintile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96.80–96.82%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(ρ ≈ 0.0004)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Stockout rate across 6 categories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2.37–2.65%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Stockout rate across 1,000 stores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1.1–4.4%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hot-spot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Stockout rate by weekday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2.42% (Fri) – 2.65% (Mon)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074920"/>
            <a:ext cx="11094415" cy="109728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 txBox="1"/>
          <p:nvPr/>
        </p:nvSpPr>
        <p:spPr>
          <a:xfrm>
            <a:off x="822960" y="5212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4"/>
                </a:solidFill>
              </a:rPr>
              <a:t>QUESTION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822960" y="54589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D3 / D5 / G1 / G4 / G5 — Why do stockouts happen, and do suppliers explain availability?</a:t>
            </a:r>
            <a:endParaRPr lang="en-US" sz="1200" dirty="0"/>
          </a:p>
        </p:txBody>
      </p:sp>
      <p:sp>
        <p:nvSpPr>
          <p:cNvPr id="5" name="Text 6"/>
          <p:cNvSpPr txBox="1"/>
          <p:nvPr/>
        </p:nvSpPr>
        <p:spPr>
          <a:xfrm>
            <a:off x="5120640" y="5212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BUSINESS MEANING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5120640" y="5458968"/>
            <a:ext cx="6248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The lever is replenishment quantity, not supplier lead time or fill rate. Same-day on-hand is a leakage variable and is shown for diagnosis only.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PHASE 1 QUESTIONS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descriptive and diagnostic questions answered with evidence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 from the data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and waste are similar across categories (waste 3.20–3.27%) and stores (2.5–4.4%)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Promotion stockouts 2.49% vs 2.55% without promotion; no difference in any 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OSA 96.78–96.82% by category and 96.31–97.24% by store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 caveat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Shelf life uniform 2–29 days; 3.6% at 2 days, 7.15% at ≤ 3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 provisional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fill rate 0.89–0.95, lead time 5.8–9.0 days; DCs nearly identical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Mapping caveat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Stockouts 2.42% (Fri) – 2.65% (Mon); SKU ranking unreliable (~6 records/SKU)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Promotion stockouts have lower stock (median 13 vs 35), not longer lead times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Waste rises with inventory relative to sales, far more at 2 days of shelf life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Near-expiry share flat (≈3.6%) across footfall; footfall varies within a store-day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inference blocked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visible association between fill rate and OSA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99.6% of records have open orders; lead time and fill rate equal across states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All relationships are associations, not causal effects.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ADDRESSING ISSUES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material issue has a proposed Phase 3 treatment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4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treatment (Phase 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values (3 columns)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by group + missing-indicator flag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Keeps rows; preserves the signal of missingness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label variant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 spaces + title case → 6 categories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 grouping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Inflated Units_Sold (9,825)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Recompute from Sales_Value ÷ effective 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Removes false extreme targets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inventory, no stockout (964)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 a business rule, then relabel or flag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 target definition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extremes / repeated keys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Verify; cap or merge only if confirmed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deleting valid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Skewed quantities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log(1 + x) or robust scaling; z-score for linear models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 model training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 fields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One-hot: Category, Temperature_Zone; frequency encoding for high-cardinality IDs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Model-ready numeric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imbalance (2.54%)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weights / SMOTE on the training split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optimistic evaluation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Leakage + future dates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 same-day OSA / cover as features; time-based train / test split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Honest performance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 store × SKU history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Aggregate: Category × Day, Store × Category × Week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Enough history for lags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Two outputs: a clean, readable dataset for analysis and a fully numeric dataset for machine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MODELLING APPROACH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analytical tracks show the course methods on the same data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567864" cy="4069080"/>
          </a:xfrm>
          <a:prstGeom prst="rect">
            <a:avLst/>
          </a:prstGeom>
          <a:solidFill>
            <a:schemeClr val="tx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022653"/>
            <a:ext cx="252374" cy="2523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51460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Classification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154680"/>
            <a:ext cx="201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3"/>
                </a:solidFill>
              </a:rPr>
              <a:t>TARGET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364992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Stockout_Flag; near-expiry risk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023360"/>
            <a:ext cx="201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3"/>
                </a:solidFill>
              </a:rPr>
              <a:t>METHODS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233672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Logistic Regression · Random Forest · XGBoost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892040"/>
            <a:ext cx="201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3"/>
                </a:solidFill>
              </a:rPr>
              <a:t>EVALUATION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5102352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Recall, PR-AUC, F1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390824" y="1600200"/>
            <a:ext cx="2567864" cy="4069080"/>
          </a:xfrm>
          <a:prstGeom prst="rect">
            <a:avLst/>
          </a:prstGeom>
          <a:solidFill>
            <a:schemeClr val="tx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665144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277" y="2022653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665144" y="251460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Regression &amp; time series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665144" y="3154680"/>
            <a:ext cx="201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3"/>
                </a:solidFill>
              </a:rPr>
              <a:t>TARGET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3665144" y="3364992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Units_Sold at Category × Day / Store × Category × Week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3665144" y="4023360"/>
            <a:ext cx="201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3"/>
                </a:solidFill>
              </a:rPr>
              <a:t>METHODS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3665144" y="4233672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Seasonal naïve baseline · SARIMA / Prophet · LightGBM with lags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3665144" y="4892040"/>
            <a:ext cx="201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3"/>
                </a:solidFill>
              </a:rPr>
              <a:t>EVALUATION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3665144" y="5102352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MAE, RMSE, MAPE (target &lt; 15%) on a time holdout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233008" y="1600200"/>
            <a:ext cx="2567864" cy="406908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507328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460" y="2022653"/>
            <a:ext cx="252374" cy="25237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507328" y="251460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Anomaly detection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6507328" y="3154680"/>
            <a:ext cx="201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TARGET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6507328" y="3364992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Units vs sales-value mismatch; waste spikes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6507328" y="4023360"/>
            <a:ext cx="201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METHODS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6507328" y="4233672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Isolation Forest · robust z-score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6507328" y="4892040"/>
            <a:ext cx="201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EVALUATION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6507328" y="5102352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Precision on the 9,825 known inflated records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9075191" y="1600200"/>
            <a:ext cx="2567864" cy="406908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9349511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7644" y="2022653"/>
            <a:ext cx="252374" cy="252374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349511" y="251460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Replenishment simulation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9349511" y="3154680"/>
            <a:ext cx="201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TARGET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9349511" y="3364992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Order quantity policies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9349511" y="4023360"/>
            <a:ext cx="201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METHODS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9349511" y="4233672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Forecast-driven vs current rule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9349511" y="4892040"/>
            <a:ext cx="2019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EVALUATION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9349511" y="5102352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Waste, OSA and stockouts per policy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548640" y="5788152"/>
            <a:ext cx="11094415" cy="438912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888736"/>
            <a:ext cx="237744" cy="237744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1143000" y="5788152"/>
            <a:ext cx="103171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Planned for the modelling phase. No model was trained in Phase 2. Features use only information available before the prediction date.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photo_ful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chemeClr val="tx2">
              <a:alpha val="94000"/>
            </a:schemeClr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/home/claude/build/assets/apple_icon_white_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48640"/>
            <a:ext cx="603504" cy="694944"/>
          </a:xfrm>
          <a:prstGeom prst="rect">
            <a:avLst/>
          </a:prstGeom>
        </p:spPr>
      </p:pic>
      <p:pic>
        <p:nvPicPr>
          <p:cNvPr id="5" name="Image 2" descr="/home/claude/build/assets/panda_wo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758952"/>
            <a:ext cx="1298448" cy="38404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40080" y="2468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PANDA Team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Fresh Food Demand &amp; Inventory Optimization</a:t>
            </a:r>
            <a:endParaRPr lang="en-US" sz="1600" dirty="0"/>
          </a:p>
        </p:txBody>
      </p:sp>
      <p:pic>
        <p:nvPicPr>
          <p:cNvPr id="9" name="Image 3" descr="/home/claude/build/assets/savo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760720"/>
            <a:ext cx="841248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Supporting statistics, tables and data dictionary</a:t>
            </a:r>
            <a:endParaRPr lang="en-US" sz="3200" dirty="0"/>
          </a:p>
        </p:txBody>
      </p:sp>
      <p:pic>
        <p:nvPicPr>
          <p:cNvPr id="4" name="Image 0" descr="/home/claude/build/assets/apple_icon_white_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475488" cy="548640"/>
          </a:xfrm>
          <a:prstGeom prst="rect">
            <a:avLst/>
          </a:prstGeom>
        </p:spPr>
      </p:pic>
      <p:pic>
        <p:nvPicPr>
          <p:cNvPr id="5" name="Image 1" descr="/home/claude/build/assets/panda_wo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713232"/>
            <a:ext cx="1024128" cy="30175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3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APPENDIX A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team and stakeholders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057400" cy="2697480"/>
          </a:xfrm>
          <a:prstGeom prst="rect">
            <a:avLst/>
          </a:prstGeom>
          <a:solidFill>
            <a:schemeClr val="tx2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65860" y="219456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A6B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16586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91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Sara Alsahmrani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AI Engineer / Team Lead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07894" y="1737360"/>
            <a:ext cx="2057400" cy="269748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25114" y="21945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425114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AA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899334" y="3291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Afnan Aljohani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899334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AI Engineer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67148" y="1737360"/>
            <a:ext cx="2057400" cy="269748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684368" y="21945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684368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SM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158588" y="3291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Sahad Marwi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158588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AI Engineer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26401" y="1737360"/>
            <a:ext cx="2057400" cy="269748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943621" y="21945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943621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17841" y="3291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Rahaf Alhadrmi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417841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AI Engineer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585655" y="1737360"/>
            <a:ext cx="2057400" cy="269748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0202875" y="21945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10202875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9677095" y="3291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Khalid Alharbi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677095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AI Engineer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4846320"/>
            <a:ext cx="11094415" cy="0"/>
          </a:xfrm>
          <a:prstGeom prst="line">
            <a:avLst/>
          </a:prstGeom>
          <a:noFill/>
          <a:ln w="15875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48640" y="50932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5228996"/>
            <a:ext cx="231343" cy="231343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188720" y="5029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Marwan Al-haj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1188720" y="5394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Trainee Coordinator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3088538" y="50932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327" y="5228996"/>
            <a:ext cx="231343" cy="231343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3728618" y="5029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Mohamed Al Shirshabi and Tarek Elnagdy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3728618" y="5394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Business Experts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908597" y="50932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4385" y="5228996"/>
            <a:ext cx="231343" cy="231343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7548677" y="5029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Ahmed Batwa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7548677" y="5394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Data Expert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9265615" y="50932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404" y="5228996"/>
            <a:ext cx="231343" cy="231343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9905695" y="5029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Shaik Zaheeruddin</a:t>
            </a:r>
            <a:endParaRPr lang="en-US" sz="1300" dirty="0"/>
          </a:p>
        </p:txBody>
      </p:sp>
      <p:sp>
        <p:nvSpPr>
          <p:cNvPr id="47" name="Text 40"/>
          <p:cNvSpPr txBox="1"/>
          <p:nvPr/>
        </p:nvSpPr>
        <p:spPr>
          <a:xfrm>
            <a:off x="9905695" y="5394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Developer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APPENDIX B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dictionary (26 columns)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64328" cy="4352544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Record_ID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record key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 label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 label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DC_ID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Distribution centre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Store_ID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SKU_ID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Batch_ID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Supplier_ID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 date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categories (7 raw)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Promotion_Flag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= on promotion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Regular_Price_SAR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Regular unit price (SAR)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554480"/>
          <a:ext cx="5364328" cy="4352544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Promo_Price_SAR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Promotional price (SAR)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Units_Sold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 · target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 sold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Sales_Value_SAR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value (SAR)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On_Hand_Qty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 on hand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On_Order_Qty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Outstanding order units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Lead_Time_Days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lead time (days)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Supplier_Fill_Rate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Delivered share (0–1)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Remaining_Shelf_Life_Days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to expiry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Waste_Qty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 wasted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Stockout_Flag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· target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= stockout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On_Shelf_Availability_Pct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OSA (%)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Store_Footfall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visitors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Temperature_Zone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Frozen / Chilled / Ambient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APPENDIX C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statistics (raw labels kept separate in Phase 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3410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sold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waste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OSA (%)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produce (variant)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Bakery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166,416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Frozen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165,706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96.78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Grocery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166,459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166,441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166,451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26.78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41324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43000" y="5257800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The variant is the raw value ' produce ' (surrounding spaces, lowercase). Dairy has the largest raw-label waste total: 151,153 units.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APPENDIX D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Stockout definition and missingness by segment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448056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OSA ≥ 90%, no stockout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974,587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97.46%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OSA ≥ 90%, stockout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OSA &lt; 90%, no stockout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F69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OSA &lt; 90%, stockout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E44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645920"/>
          <a:ext cx="6339535" cy="914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 0 /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Stockout 0 /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Supplier_Fill_Rate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80,309 (8.03%)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8.04 / 7.97%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8.03 / 8.12%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7.92–8.10%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Remaining_Shelf_Life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50,187 (5.02%)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5.01 / 5.05%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5.02 / 5.10%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4.92–5.07%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Store_Footfall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40,235 (4.02%)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4.02 / 4.05%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4.02 / 4.05%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3.93–4.07%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303520" y="3611880"/>
            <a:ext cx="6339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Records complete: 83.8% · one field missing: 15.3% · two: 0.87% · all three: 147 records.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solidFill>
            <a:srgbClr val="FCECE9"/>
          </a:solidFill>
          <a:ln w="12700">
            <a:solidFill>
              <a:srgbClr val="FCE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276088"/>
            <a:ext cx="237744" cy="23774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5120640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Same-period OSA exactly separates the stockout label, so it cannot be a predictor. Similar missingness across groups does not by itself prove random missingness.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APPENDIX E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 consistency and ABT grain feasibility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Stockout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indicator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categories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2.37–2.65%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OSA 96.78–96.82%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 stores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1.1–4.4%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OSA 96.31–97.24%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2.42–2.65%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units 26.6–27.1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2.47–2.65%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units 26.3–27.3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Ramadan (approx.)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2.60% vs 2.54%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units 26.90 vs 26.87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45920"/>
          <a:ext cx="5425135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954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 / cell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762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× SKU × 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999,997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954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× SKU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996,731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× Week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104,987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× Category × Month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143,861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× 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D2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754880"/>
            <a:ext cx="11094415" cy="548640"/>
          </a:xfrm>
          <a:prstGeom prst="rect">
            <a:avLst/>
          </a:prstGeom>
          <a:solidFill>
            <a:schemeClr val="bg2"/>
          </a:solidFill>
          <a:ln w="12700">
            <a:solidFill>
              <a:srgbClr val="F0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910328"/>
            <a:ext cx="237744" cy="23774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4754880"/>
            <a:ext cx="10317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993,473 of 996,731 store–SKU pairs (99.67%) have one distinct day. The Store × SKU × Day ABT is not feasible as-is; an aggregated grain is proposed.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chemeClr val="accent2"/>
                </a:solidFill>
              </a:rPr>
              <a:t>APPENDIX F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 for the data owner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4"/>
                </a:solidFill>
              </a:rPr>
              <a:t>21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64592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Why does one Store_ID appear under several cities, regions and DCs?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43000" y="2176272"/>
            <a:ext cx="10454335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22677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12848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Is Store_Footfall a daily store count or a value per record?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143000" y="2743200"/>
            <a:ext cx="10454335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2779776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Is Stockout_Flag defined as OSA &lt; 90%? How should zero-inventory records be labelled?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143000" y="3310128"/>
            <a:ext cx="10454335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8640" y="3401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4864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3346704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Why are 9,825 Units_Sold values 4–22× the sales value ÷ price?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143000" y="3877056"/>
            <a:ext cx="10454335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48640" y="3968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4864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3913632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What do the 128,686 records dated after 28 Sep 2026 represent?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143000" y="4443984"/>
            <a:ext cx="10454335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8640" y="45354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5486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448056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Which categories count as fresh, and what near-expiry threshold applies to each?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143000" y="5010912"/>
            <a:ext cx="10454335" cy="0"/>
          </a:xfrm>
          <a:prstGeom prst="line">
            <a:avLst/>
          </a:prstGeom>
          <a:noFill/>
          <a:ln w="9525">
            <a:solidFill>
              <a:srgbClr val="D5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48640" y="51023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954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48640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5047488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Can longer, consistent store–SKU histories be provided?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da Savola">
  <a:themeElements>
    <a:clrScheme name="Panda Savola">
      <a:dk1>
        <a:srgbClr val="1D2B22"/>
      </a:dk1>
      <a:lt1>
        <a:srgbClr val="FFFFFF"/>
      </a:lt1>
      <a:dk2>
        <a:srgbClr val="295435"/>
      </a:dk2>
      <a:lt2>
        <a:srgbClr val="F0F4F1"/>
      </a:lt2>
      <a:accent1>
        <a:srgbClr val="295435"/>
      </a:accent1>
      <a:accent2>
        <a:srgbClr val="E44A31"/>
      </a:accent2>
      <a:accent3>
        <a:srgbClr val="A6BE3C"/>
      </a:accent3>
      <a:accent4>
        <a:srgbClr val="5F6972"/>
      </a:accent4>
      <a:accent5>
        <a:srgbClr val="7F9A88"/>
      </a:accent5>
      <a:accent6>
        <a:srgbClr val="D5DED8"/>
      </a:accent6>
      <a:hlink>
        <a:srgbClr val="295435"/>
      </a:hlink>
      <a:folHlink>
        <a:srgbClr val="5F6972"/>
      </a:folHlink>
    </a:clrScheme>
    <a:fontScheme name="Panda Savola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3563</Words>
  <Application>Microsoft Office PowerPoint</Application>
  <PresentationFormat>Widescreen</PresentationFormat>
  <Paragraphs>646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Georgia</vt:lpstr>
      <vt:lpstr>Panda Savola</vt:lpstr>
      <vt:lpstr>PowerPoint Presentation</vt:lpstr>
      <vt:lpstr>Fresh food forces a trade-off between availability and waste</vt:lpstr>
      <vt:lpstr>One million records over two years give broad coverage of stores and products</vt:lpstr>
      <vt:lpstr>Three targets, each with a distribution that shapes the modelling choice</vt:lpstr>
      <vt:lpstr>The data is complete for IDs and dates; issues are concentrated and countable</vt:lpstr>
      <vt:lpstr>Four structural risks matter more for modelling than the missing values</vt:lpstr>
      <vt:lpstr>Quantities are heavily skewed and move together; supply variables are flat</vt:lpstr>
      <vt:lpstr>Waste is a freshness-timing problem: 3.6% of records carry 27.8% of waste</vt:lpstr>
      <vt:lpstr>Promotions and store traffic drive demand; price on its own does not</vt:lpstr>
      <vt:lpstr>Stockouts follow stock levels, not supplier performance</vt:lpstr>
      <vt:lpstr>All descriptive and diagnostic questions answered with evidence</vt:lpstr>
      <vt:lpstr>Every material issue has a proposed Phase 3 treatment</vt:lpstr>
      <vt:lpstr>Four analytical tracks show the course methods on the same data</vt:lpstr>
      <vt:lpstr>PowerPoint Presentation</vt:lpstr>
      <vt:lpstr>PowerPoint Presentation</vt:lpstr>
      <vt:lpstr>Project team and stakeholders</vt:lpstr>
      <vt:lpstr>Data dictionary (26 columns)</vt:lpstr>
      <vt:lpstr>Category statistics (raw labels kept separate in Phase 2)</vt:lpstr>
      <vt:lpstr>Stockout definition and missingness by segment</vt:lpstr>
      <vt:lpstr>Segment consistency and ABT grain feasibility</vt:lpstr>
      <vt:lpstr>Open questions for the data owner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Phase 2: Data Understanding</dc:title>
  <dc:subject>PptxGenJS Presentation</dc:subject>
  <dc:creator>PptxGenJS</dc:creator>
  <cp:lastModifiedBy>افنان فهد عبدالله الجهني</cp:lastModifiedBy>
  <cp:revision>2</cp:revision>
  <dcterms:created xsi:type="dcterms:W3CDTF">2026-10-04T10:53:33Z</dcterms:created>
  <dcterms:modified xsi:type="dcterms:W3CDTF">2026-10-04T10:57:18Z</dcterms:modified>
</cp:coreProperties>
</file>