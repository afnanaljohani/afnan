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2" r:id="rId18"/>
    <p:sldId id="273" r:id="rId19"/>
    <p:sldId id="271" r:id="rId20"/>
  </p:sldIdLst>
  <p:sldSz cx="18288000" cy="10287000"/>
  <p:notesSz cx="6858000" cy="9144000"/>
  <p:embeddedFontLst>
    <p:embeddedFont>
      <p:font typeface="Calibri (MS)" panose="020B0604020202020204" charset="0"/>
      <p:regular r:id="rId22"/>
    </p:embeddedFont>
    <p:embeddedFont>
      <p:font typeface="Calibri (MS) Bold" panose="020B0604020202020204" charset="0"/>
      <p:regular r:id="rId23"/>
    </p:embeddedFont>
    <p:embeddedFont>
      <p:font typeface="Calibri (MS) Italics" panose="020B0604020202020204" charset="0"/>
      <p:regular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Cambria Bold" panose="02040803050406030204" pitchFamily="18" charset="0"/>
      <p:regular r:id="rId29"/>
      <p:bold r:id="rId30"/>
    </p:embeddedFont>
    <p:embeddedFont>
      <p:font typeface="Georgia" panose="02040502050405020303" pitchFamily="18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Phase 1 (business understanding) is approved, so we go straight to the data. Three questions for the next three minutes: can we trust the data, what does it tell us about Panda's fresh-food business, and what is it worth.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Big numbers only. One million records over two years, all 1,000 stores, 150 thousand products. The data is clean on its keys: no duplicates, no invalid dates. Only three of 26 columns have gaps, at 4 to 8 percent, and those are handled in Phase 3. Message: we can trust what comes next.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One slide, three findings, each with a number, a picture and a business meaning.</a:t>
            </a:r>
          </a:p>
          <a:p>
            <a:r>
              <a:rPr lang="en-US"/>
              <a:t>Waste: a quarter of all waste sits in stock with only 2 days left. Mean waste jumps from 0.66 to 7.29 units. Acting 2 to 3 days before expiry targets that quarter.</a:t>
            </a:r>
          </a:p>
          <a:p>
            <a:r>
              <a:rPr lang="en-US"/>
              <a:t>Demand: promotions lift mean units sold from 24.55 to 38.98 (+59%), and the busiest stores sell about three times more than the quietest. Price alone shows no link. So the forecast must read the promo calendar and traffic.</a:t>
            </a:r>
          </a:p>
          <a:p>
            <a:r>
              <a:rPr lang="en-US"/>
              <a:t>Stockouts: during promotions, records that ran short held 18 units on average versus 54 for in-stock records, while lead time is the same (7.49 vs 7.50 days). The lever is replenishment quantity, which is exactly what our model optimises.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Phase 3 turns the raw PANDA file into two modeling-ready tables. Every number in this deck is produced by the Phase 3 notebook on PANDA.csv.</a:t>
            </a:r>
          </a:p>
          <a:p>
            <a:r>
              <a:rPr lang="en-US"/>
              <a:t>46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Two tables, because Dr. Moha's Store × SKU × Day unit has no history for forecasting (slide 8): ABT-A aggregates to Store × Category × Week for the time-series forecast; ABT-B keeps batch detail for the stockout and near-expiry classifiers.</a:t>
            </a:r>
          </a:p>
          <a:p>
            <a:r>
              <a:rPr lang="en-US"/>
              <a:t>47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Why we imputed instead of deleting: three columns are missing 4-8% each, so deleting would remove a large share of rows. We kept a flag so the model can still learn from the missingness. Outliers: peaks are real demand (promotions, large stores), so we capped predictors but never the target. One-hot is used only for fields with few options (category, temperature zone, region, DC, weekday).</a:t>
            </a:r>
          </a:p>
          <a:p>
            <a:r>
              <a:rPr lang="en-US"/>
              <a:t>48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Why we imputed instead of deleting: three columns are missing 4-8% each, so deleting would remove a large share of rows. We kept a flag so the model can still learn from the missingness. Outliers: peaks are real demand (promotions, large stores), so we capped predictors but never the target. One-hot is used only for fields with few options (category, temperature zone, region, DC, weekday).</a:t>
            </a:r>
          </a:p>
          <a:p>
            <a:r>
              <a:rPr lang="en-US"/>
              <a:t>49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Each model answers one business question. Stockouts and near-expiry are rare, so accuracy alone would be misleading: we will measure how many real cases we catch (recall) and how many alerts are correct (precision).</a:t>
            </a:r>
          </a:p>
          <a:p>
            <a:r>
              <a:rPr lang="en-US"/>
              <a:t>50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64008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362078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64008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rgbClr val="0F3D24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133899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18" Type="http://schemas.openxmlformats.org/officeDocument/2006/relationships/image" Target="../media/image20.jpeg"/><Relationship Id="rId3" Type="http://schemas.openxmlformats.org/officeDocument/2006/relationships/image" Target="../media/image6.jpe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20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4.jpeg"/><Relationship Id="rId9" Type="http://schemas.openxmlformats.org/officeDocument/2006/relationships/image" Target="../media/image11.svg"/><Relationship Id="rId14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4.jpe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jp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2952" y="0"/>
            <a:ext cx="8380476" cy="10287000"/>
            <a:chOff x="0" y="0"/>
            <a:chExt cx="11173968" cy="13716000"/>
          </a:xfrm>
        </p:grpSpPr>
        <p:sp>
          <p:nvSpPr>
            <p:cNvPr id="3" name="Freeform 3" descr="Mother and child buying a watermelon at a Panda checkout"/>
            <p:cNvSpPr/>
            <p:nvPr/>
          </p:nvSpPr>
          <p:spPr>
            <a:xfrm>
              <a:off x="0" y="0"/>
              <a:ext cx="11173968" cy="13716000"/>
            </a:xfrm>
            <a:custGeom>
              <a:avLst/>
              <a:gdLst/>
              <a:ahLst/>
              <a:cxnLst/>
              <a:rect l="l" t="t" r="r" b="b"/>
              <a:pathLst>
                <a:path w="11173968" h="13716000">
                  <a:moveTo>
                    <a:pt x="0" y="0"/>
                  </a:moveTo>
                  <a:lnTo>
                    <a:pt x="11173968" y="0"/>
                  </a:lnTo>
                  <a:lnTo>
                    <a:pt x="1117396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84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19352" y="1165860"/>
            <a:ext cx="548640" cy="630936"/>
            <a:chOff x="0" y="0"/>
            <a:chExt cx="731520" cy="841248"/>
          </a:xfrm>
        </p:grpSpPr>
        <p:sp>
          <p:nvSpPr>
            <p:cNvPr id="5" name="Freeform 5" descr="Panda icon"/>
            <p:cNvSpPr/>
            <p:nvPr/>
          </p:nvSpPr>
          <p:spPr>
            <a:xfrm>
              <a:off x="0" y="0"/>
              <a:ext cx="731520" cy="841248"/>
            </a:xfrm>
            <a:custGeom>
              <a:avLst/>
              <a:gdLst/>
              <a:ahLst/>
              <a:cxnLst/>
              <a:rect l="l" t="t" r="r" b="b"/>
              <a:pathLst>
                <a:path w="731520" h="841248">
                  <a:moveTo>
                    <a:pt x="0" y="0"/>
                  </a:moveTo>
                  <a:lnTo>
                    <a:pt x="731520" y="0"/>
                  </a:lnTo>
                  <a:lnTo>
                    <a:pt x="731520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5" r="-2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05152" y="1207008"/>
            <a:ext cx="1865376" cy="548640"/>
            <a:chOff x="0" y="0"/>
            <a:chExt cx="2487168" cy="731520"/>
          </a:xfrm>
        </p:grpSpPr>
        <p:sp>
          <p:nvSpPr>
            <p:cNvPr id="7" name="Freeform 7" descr="Panda"/>
            <p:cNvSpPr/>
            <p:nvPr/>
          </p:nvSpPr>
          <p:spPr>
            <a:xfrm>
              <a:off x="0" y="0"/>
              <a:ext cx="2487168" cy="731520"/>
            </a:xfrm>
            <a:custGeom>
              <a:avLst/>
              <a:gdLst/>
              <a:ahLst/>
              <a:cxnLst/>
              <a:rect l="l" t="t" r="r" b="b"/>
              <a:pathLst>
                <a:path w="2487168" h="731520">
                  <a:moveTo>
                    <a:pt x="0" y="0"/>
                  </a:moveTo>
                  <a:lnTo>
                    <a:pt x="2487168" y="0"/>
                  </a:lnTo>
                  <a:lnTo>
                    <a:pt x="2487168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1" b="-2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19200" y="3183255"/>
            <a:ext cx="8671560" cy="285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AI-Powered Fresh Food Demand &amp; Inventory Optimization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19352" y="8846820"/>
            <a:ext cx="6172200" cy="411480"/>
            <a:chOff x="0" y="0"/>
            <a:chExt cx="8229600" cy="54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D5E2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 Team · EWA · InnovatiCS · Group 10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86700" y="8641080"/>
            <a:ext cx="1440180" cy="630936"/>
            <a:chOff x="0" y="0"/>
            <a:chExt cx="1920240" cy="841248"/>
          </a:xfrm>
        </p:grpSpPr>
        <p:sp>
          <p:nvSpPr>
            <p:cNvPr id="13" name="Freeform 13" descr="Savola"/>
            <p:cNvSpPr/>
            <p:nvPr/>
          </p:nvSpPr>
          <p:spPr>
            <a:xfrm>
              <a:off x="0" y="0"/>
              <a:ext cx="1920240" cy="841248"/>
            </a:xfrm>
            <a:custGeom>
              <a:avLst/>
              <a:gdLst/>
              <a:ahLst/>
              <a:cxnLst/>
              <a:rect l="l" t="t" r="r" b="b"/>
              <a:pathLst>
                <a:path w="1920240" h="841248">
                  <a:moveTo>
                    <a:pt x="0" y="0"/>
                  </a:moveTo>
                  <a:lnTo>
                    <a:pt x="1920240" y="0"/>
                  </a:lnTo>
                  <a:lnTo>
                    <a:pt x="1920240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8" r="-23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2592" y="1630937"/>
            <a:ext cx="14001255" cy="1235402"/>
            <a:chOff x="0" y="0"/>
            <a:chExt cx="18668340" cy="16472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68364" cy="1647190"/>
            </a:xfrm>
            <a:custGeom>
              <a:avLst/>
              <a:gdLst/>
              <a:ahLst/>
              <a:cxnLst/>
              <a:rect l="l" t="t" r="r" b="b"/>
              <a:pathLst>
                <a:path w="18668364" h="1647190">
                  <a:moveTo>
                    <a:pt x="0" y="0"/>
                  </a:moveTo>
                  <a:lnTo>
                    <a:pt x="18668364" y="0"/>
                  </a:lnTo>
                  <a:lnTo>
                    <a:pt x="18668364" y="1647190"/>
                  </a:lnTo>
                  <a:lnTo>
                    <a:pt x="0" y="16471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678" b="-17068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22592" y="1623793"/>
            <a:ext cx="14001255" cy="1242546"/>
            <a:chOff x="0" y="0"/>
            <a:chExt cx="18668340" cy="16567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8340" cy="1656727"/>
            </a:xfrm>
            <a:custGeom>
              <a:avLst/>
              <a:gdLst/>
              <a:ahLst/>
              <a:cxnLst/>
              <a:rect l="l" t="t" r="r" b="b"/>
              <a:pathLst>
                <a:path w="18668340" h="1656727">
                  <a:moveTo>
                    <a:pt x="0" y="0"/>
                  </a:moveTo>
                  <a:lnTo>
                    <a:pt x="18668340" y="0"/>
                  </a:lnTo>
                  <a:lnTo>
                    <a:pt x="18668340" y="1656727"/>
                  </a:lnTo>
                  <a:lnTo>
                    <a:pt x="0" y="16567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9561" b="-16956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8668340" cy="16662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7"/>
                </a:lnSpc>
              </a:pPr>
              <a:r>
                <a:rPr lang="en-US" sz="5100" b="1">
                  <a:solidFill>
                    <a:srgbClr val="1F27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Stakeholders Definition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658850" y="-501396"/>
            <a:ext cx="4711065" cy="2835021"/>
            <a:chOff x="0" y="0"/>
            <a:chExt cx="6281420" cy="37800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81420" cy="3780028"/>
            </a:xfrm>
            <a:custGeom>
              <a:avLst/>
              <a:gdLst/>
              <a:ahLst/>
              <a:cxnLst/>
              <a:rect l="l" t="t" r="r" b="b"/>
              <a:pathLst>
                <a:path w="6281420" h="3780028">
                  <a:moveTo>
                    <a:pt x="0" y="0"/>
                  </a:moveTo>
                  <a:lnTo>
                    <a:pt x="6281420" y="0"/>
                  </a:lnTo>
                  <a:lnTo>
                    <a:pt x="6281420" y="3780028"/>
                  </a:lnTo>
                  <a:lnTo>
                    <a:pt x="0" y="3780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91" r="-34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577215" y="-663893"/>
            <a:ext cx="4250931" cy="2558120"/>
            <a:chOff x="0" y="0"/>
            <a:chExt cx="5667908" cy="34108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67883" cy="3410839"/>
            </a:xfrm>
            <a:custGeom>
              <a:avLst/>
              <a:gdLst/>
              <a:ahLst/>
              <a:cxnLst/>
              <a:rect l="l" t="t" r="r" b="b"/>
              <a:pathLst>
                <a:path w="5667883" h="3410839">
                  <a:moveTo>
                    <a:pt x="0" y="0"/>
                  </a:moveTo>
                  <a:lnTo>
                    <a:pt x="5667883" y="0"/>
                  </a:lnTo>
                  <a:lnTo>
                    <a:pt x="5667883" y="3410839"/>
                  </a:lnTo>
                  <a:lnTo>
                    <a:pt x="0" y="3410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3086" b="-3308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125087" y="2866406"/>
            <a:ext cx="3201969" cy="4399604"/>
          </a:xfrm>
          <a:custGeom>
            <a:avLst/>
            <a:gdLst/>
            <a:ahLst/>
            <a:cxnLst/>
            <a:rect l="l" t="t" r="r" b="b"/>
            <a:pathLst>
              <a:path w="3201969" h="4399604">
                <a:moveTo>
                  <a:pt x="0" y="0"/>
                </a:moveTo>
                <a:lnTo>
                  <a:pt x="3201969" y="0"/>
                </a:lnTo>
                <a:lnTo>
                  <a:pt x="3201969" y="4399604"/>
                </a:lnTo>
                <a:lnTo>
                  <a:pt x="0" y="439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069530" y="2866406"/>
            <a:ext cx="3201969" cy="4399604"/>
          </a:xfrm>
          <a:custGeom>
            <a:avLst/>
            <a:gdLst/>
            <a:ahLst/>
            <a:cxnLst/>
            <a:rect l="l" t="t" r="r" b="b"/>
            <a:pathLst>
              <a:path w="3201969" h="4399604">
                <a:moveTo>
                  <a:pt x="0" y="0"/>
                </a:moveTo>
                <a:lnTo>
                  <a:pt x="3201969" y="0"/>
                </a:lnTo>
                <a:lnTo>
                  <a:pt x="3201969" y="4399604"/>
                </a:lnTo>
                <a:lnTo>
                  <a:pt x="0" y="439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7597304" y="2866406"/>
            <a:ext cx="3201969" cy="4399604"/>
          </a:xfrm>
          <a:custGeom>
            <a:avLst/>
            <a:gdLst/>
            <a:ahLst/>
            <a:cxnLst/>
            <a:rect l="l" t="t" r="r" b="b"/>
            <a:pathLst>
              <a:path w="3201969" h="4399604">
                <a:moveTo>
                  <a:pt x="0" y="0"/>
                </a:moveTo>
                <a:lnTo>
                  <a:pt x="3201969" y="0"/>
                </a:lnTo>
                <a:lnTo>
                  <a:pt x="3201969" y="4399604"/>
                </a:lnTo>
                <a:lnTo>
                  <a:pt x="0" y="439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776014" y="5151575"/>
            <a:ext cx="2844596" cy="683177"/>
            <a:chOff x="0" y="0"/>
            <a:chExt cx="3782238" cy="9083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82187" cy="908431"/>
            </a:xfrm>
            <a:custGeom>
              <a:avLst/>
              <a:gdLst/>
              <a:ahLst/>
              <a:cxnLst/>
              <a:rect l="l" t="t" r="r" b="b"/>
              <a:pathLst>
                <a:path w="3782187" h="908431">
                  <a:moveTo>
                    <a:pt x="0" y="0"/>
                  </a:moveTo>
                  <a:lnTo>
                    <a:pt x="3782187" y="0"/>
                  </a:lnTo>
                  <a:lnTo>
                    <a:pt x="3782187" y="908431"/>
                  </a:lnTo>
                  <a:lnTo>
                    <a:pt x="0" y="908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072" r="-1" b="-310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776014" y="5121946"/>
            <a:ext cx="2844596" cy="712816"/>
            <a:chOff x="0" y="0"/>
            <a:chExt cx="3782238" cy="9477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82236" cy="947773"/>
            </a:xfrm>
            <a:custGeom>
              <a:avLst/>
              <a:gdLst/>
              <a:ahLst/>
              <a:cxnLst/>
              <a:rect l="l" t="t" r="r" b="b"/>
              <a:pathLst>
                <a:path w="3782236" h="947773">
                  <a:moveTo>
                    <a:pt x="0" y="0"/>
                  </a:moveTo>
                  <a:lnTo>
                    <a:pt x="3782236" y="0"/>
                  </a:lnTo>
                  <a:lnTo>
                    <a:pt x="3782236" y="947773"/>
                  </a:lnTo>
                  <a:lnTo>
                    <a:pt x="0" y="9477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757" b="-27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782238" cy="9954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09"/>
                </a:lnSpc>
              </a:pPr>
              <a:r>
                <a:rPr lang="en-US" sz="2174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Experts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303788" y="5151575"/>
            <a:ext cx="2844596" cy="683177"/>
            <a:chOff x="0" y="0"/>
            <a:chExt cx="3782238" cy="9083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82187" cy="908431"/>
            </a:xfrm>
            <a:custGeom>
              <a:avLst/>
              <a:gdLst/>
              <a:ahLst/>
              <a:cxnLst/>
              <a:rect l="l" t="t" r="r" b="b"/>
              <a:pathLst>
                <a:path w="3782187" h="908431">
                  <a:moveTo>
                    <a:pt x="0" y="0"/>
                  </a:moveTo>
                  <a:lnTo>
                    <a:pt x="3782187" y="0"/>
                  </a:lnTo>
                  <a:lnTo>
                    <a:pt x="3782187" y="908431"/>
                  </a:lnTo>
                  <a:lnTo>
                    <a:pt x="0" y="908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072" r="-1" b="-310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303788" y="5121946"/>
            <a:ext cx="2844596" cy="712816"/>
            <a:chOff x="0" y="0"/>
            <a:chExt cx="3782238" cy="9477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82236" cy="947773"/>
            </a:xfrm>
            <a:custGeom>
              <a:avLst/>
              <a:gdLst/>
              <a:ahLst/>
              <a:cxnLst/>
              <a:rect l="l" t="t" r="r" b="b"/>
              <a:pathLst>
                <a:path w="3782236" h="947773">
                  <a:moveTo>
                    <a:pt x="0" y="0"/>
                  </a:moveTo>
                  <a:lnTo>
                    <a:pt x="3782236" y="0"/>
                  </a:lnTo>
                  <a:lnTo>
                    <a:pt x="3782236" y="947773"/>
                  </a:lnTo>
                  <a:lnTo>
                    <a:pt x="0" y="9477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757" b="-27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3782238" cy="9954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09"/>
                </a:lnSpc>
              </a:pPr>
              <a:r>
                <a:rPr lang="en-US" sz="2174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Expert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14652860" y="2866406"/>
            <a:ext cx="3201969" cy="4399604"/>
          </a:xfrm>
          <a:custGeom>
            <a:avLst/>
            <a:gdLst/>
            <a:ahLst/>
            <a:cxnLst/>
            <a:rect l="l" t="t" r="r" b="b"/>
            <a:pathLst>
              <a:path w="3201969" h="4399604">
                <a:moveTo>
                  <a:pt x="0" y="0"/>
                </a:moveTo>
                <a:lnTo>
                  <a:pt x="3201969" y="0"/>
                </a:lnTo>
                <a:lnTo>
                  <a:pt x="3201969" y="4399604"/>
                </a:lnTo>
                <a:lnTo>
                  <a:pt x="0" y="439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5482196" y="3467707"/>
            <a:ext cx="1477630" cy="1477630"/>
            <a:chOff x="0" y="0"/>
            <a:chExt cx="1964690" cy="196469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64690" cy="1964690"/>
            </a:xfrm>
            <a:custGeom>
              <a:avLst/>
              <a:gdLst/>
              <a:ahLst/>
              <a:cxnLst/>
              <a:rect l="l" t="t" r="r" b="b"/>
              <a:pathLst>
                <a:path w="1964690" h="1964690">
                  <a:moveTo>
                    <a:pt x="982345" y="0"/>
                  </a:moveTo>
                  <a:cubicBezTo>
                    <a:pt x="439801" y="0"/>
                    <a:pt x="0" y="439801"/>
                    <a:pt x="0" y="982345"/>
                  </a:cubicBezTo>
                  <a:cubicBezTo>
                    <a:pt x="0" y="1524889"/>
                    <a:pt x="439801" y="1964690"/>
                    <a:pt x="982345" y="1964690"/>
                  </a:cubicBezTo>
                  <a:cubicBezTo>
                    <a:pt x="1524889" y="1964690"/>
                    <a:pt x="1964690" y="1524889"/>
                    <a:pt x="1964690" y="982345"/>
                  </a:cubicBezTo>
                  <a:cubicBezTo>
                    <a:pt x="1964690" y="439801"/>
                    <a:pt x="1524889" y="0"/>
                    <a:pt x="982345" y="0"/>
                  </a:cubicBezTo>
                  <a:close/>
                </a:path>
              </a:pathLst>
            </a:custGeom>
            <a:blipFill>
              <a:blip r:embed="rId10"/>
              <a:stretch>
                <a:fillRect l="-30712" t="-119876" r="-20742" b="-1077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831561" y="5151575"/>
            <a:ext cx="2844596" cy="683177"/>
            <a:chOff x="0" y="0"/>
            <a:chExt cx="3782238" cy="9083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782187" cy="908431"/>
            </a:xfrm>
            <a:custGeom>
              <a:avLst/>
              <a:gdLst/>
              <a:ahLst/>
              <a:cxnLst/>
              <a:rect l="l" t="t" r="r" b="b"/>
              <a:pathLst>
                <a:path w="3782187" h="908431">
                  <a:moveTo>
                    <a:pt x="0" y="0"/>
                  </a:moveTo>
                  <a:lnTo>
                    <a:pt x="3782187" y="0"/>
                  </a:lnTo>
                  <a:lnTo>
                    <a:pt x="3782187" y="908431"/>
                  </a:lnTo>
                  <a:lnTo>
                    <a:pt x="0" y="908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072" r="-1" b="-310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831561" y="5121946"/>
            <a:ext cx="2844596" cy="712816"/>
            <a:chOff x="0" y="0"/>
            <a:chExt cx="3782238" cy="9477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782236" cy="947773"/>
            </a:xfrm>
            <a:custGeom>
              <a:avLst/>
              <a:gdLst/>
              <a:ahLst/>
              <a:cxnLst/>
              <a:rect l="l" t="t" r="r" b="b"/>
              <a:pathLst>
                <a:path w="3782236" h="947773">
                  <a:moveTo>
                    <a:pt x="0" y="0"/>
                  </a:moveTo>
                  <a:lnTo>
                    <a:pt x="3782236" y="0"/>
                  </a:lnTo>
                  <a:lnTo>
                    <a:pt x="3782236" y="947773"/>
                  </a:lnTo>
                  <a:lnTo>
                    <a:pt x="0" y="9477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757" b="-27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3782238" cy="9954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09"/>
                </a:lnSpc>
              </a:pPr>
              <a:r>
                <a:rPr lang="en-US" sz="2174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448541" y="3456751"/>
            <a:ext cx="1477630" cy="1477630"/>
            <a:chOff x="0" y="0"/>
            <a:chExt cx="1964690" cy="19646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64690" cy="1964690"/>
            </a:xfrm>
            <a:custGeom>
              <a:avLst/>
              <a:gdLst/>
              <a:ahLst/>
              <a:cxnLst/>
              <a:rect l="l" t="t" r="r" b="b"/>
              <a:pathLst>
                <a:path w="1964690" h="1964690">
                  <a:moveTo>
                    <a:pt x="982345" y="0"/>
                  </a:moveTo>
                  <a:cubicBezTo>
                    <a:pt x="439801" y="0"/>
                    <a:pt x="0" y="439801"/>
                    <a:pt x="0" y="982345"/>
                  </a:cubicBezTo>
                  <a:cubicBezTo>
                    <a:pt x="0" y="1524889"/>
                    <a:pt x="439801" y="1964690"/>
                    <a:pt x="982345" y="1964690"/>
                  </a:cubicBezTo>
                  <a:cubicBezTo>
                    <a:pt x="1524889" y="1964690"/>
                    <a:pt x="1964690" y="1524889"/>
                    <a:pt x="1964690" y="982345"/>
                  </a:cubicBezTo>
                  <a:cubicBezTo>
                    <a:pt x="1964690" y="439801"/>
                    <a:pt x="1524889" y="0"/>
                    <a:pt x="982345" y="0"/>
                  </a:cubicBezTo>
                  <a:close/>
                </a:path>
              </a:pathLst>
            </a:custGeom>
            <a:blipFill>
              <a:blip r:embed="rId11"/>
              <a:stretch>
                <a:fillRect l="-23669" t="-128587" r="-34992" b="-1142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020128" y="3478653"/>
            <a:ext cx="1477630" cy="1477630"/>
            <a:chOff x="0" y="0"/>
            <a:chExt cx="1964690" cy="19646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64690" cy="1964690"/>
            </a:xfrm>
            <a:custGeom>
              <a:avLst/>
              <a:gdLst/>
              <a:ahLst/>
              <a:cxnLst/>
              <a:rect l="l" t="t" r="r" b="b"/>
              <a:pathLst>
                <a:path w="1964690" h="1964690">
                  <a:moveTo>
                    <a:pt x="982345" y="0"/>
                  </a:moveTo>
                  <a:cubicBezTo>
                    <a:pt x="439801" y="0"/>
                    <a:pt x="0" y="439801"/>
                    <a:pt x="0" y="982345"/>
                  </a:cubicBezTo>
                  <a:cubicBezTo>
                    <a:pt x="0" y="1524889"/>
                    <a:pt x="439801" y="1964690"/>
                    <a:pt x="982345" y="1964690"/>
                  </a:cubicBezTo>
                  <a:cubicBezTo>
                    <a:pt x="1524889" y="1964690"/>
                    <a:pt x="1964690" y="1524889"/>
                    <a:pt x="1964690" y="982345"/>
                  </a:cubicBezTo>
                  <a:cubicBezTo>
                    <a:pt x="1964690" y="439801"/>
                    <a:pt x="1524889" y="0"/>
                    <a:pt x="982345" y="0"/>
                  </a:cubicBezTo>
                  <a:close/>
                </a:path>
              </a:pathLst>
            </a:custGeom>
            <a:blipFill>
              <a:blip r:embed="rId12"/>
              <a:stretch>
                <a:fillRect l="-20411" t="-120309" r="-27442" b="-991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851863" y="5761970"/>
            <a:ext cx="2692898" cy="89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99">
                <a:solidFill>
                  <a:srgbClr val="3C4652"/>
                </a:solidFill>
                <a:latin typeface="Calibri (MS)"/>
                <a:ea typeface="Calibri (MS)"/>
                <a:cs typeface="Calibri (MS)"/>
                <a:sym typeface="Calibri (MS)"/>
              </a:rPr>
              <a:t>Tarek Elnagdy</a:t>
            </a:r>
          </a:p>
          <a:p>
            <a:pPr algn="ctr">
              <a:lnSpc>
                <a:spcPts val="3393"/>
              </a:lnSpc>
            </a:pPr>
            <a:endParaRPr lang="en-US" sz="2499">
              <a:solidFill>
                <a:srgbClr val="3C4652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4222490" y="5151575"/>
            <a:ext cx="2844596" cy="683177"/>
            <a:chOff x="0" y="0"/>
            <a:chExt cx="3782238" cy="90836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782187" cy="908431"/>
            </a:xfrm>
            <a:custGeom>
              <a:avLst/>
              <a:gdLst/>
              <a:ahLst/>
              <a:cxnLst/>
              <a:rect l="l" t="t" r="r" b="b"/>
              <a:pathLst>
                <a:path w="3782187" h="908431">
                  <a:moveTo>
                    <a:pt x="0" y="0"/>
                  </a:moveTo>
                  <a:lnTo>
                    <a:pt x="3782187" y="0"/>
                  </a:lnTo>
                  <a:lnTo>
                    <a:pt x="3782187" y="908431"/>
                  </a:lnTo>
                  <a:lnTo>
                    <a:pt x="0" y="908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072" r="-1" b="-310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22490" y="5121946"/>
            <a:ext cx="2844596" cy="712816"/>
            <a:chOff x="0" y="0"/>
            <a:chExt cx="3782238" cy="94777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782236" cy="947773"/>
            </a:xfrm>
            <a:custGeom>
              <a:avLst/>
              <a:gdLst/>
              <a:ahLst/>
              <a:cxnLst/>
              <a:rect l="l" t="t" r="r" b="b"/>
              <a:pathLst>
                <a:path w="3782236" h="947773">
                  <a:moveTo>
                    <a:pt x="0" y="0"/>
                  </a:moveTo>
                  <a:lnTo>
                    <a:pt x="3782236" y="0"/>
                  </a:lnTo>
                  <a:lnTo>
                    <a:pt x="3782236" y="947773"/>
                  </a:lnTo>
                  <a:lnTo>
                    <a:pt x="0" y="9477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757" b="-277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3782238" cy="9954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09"/>
                </a:lnSpc>
              </a:pPr>
              <a:r>
                <a:rPr lang="en-US" sz="2174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Experts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622592" y="2866339"/>
            <a:ext cx="3042142" cy="4399499"/>
          </a:xfrm>
          <a:custGeom>
            <a:avLst/>
            <a:gdLst/>
            <a:ahLst/>
            <a:cxnLst/>
            <a:rect l="l" t="t" r="r" b="b"/>
            <a:pathLst>
              <a:path w="3042142" h="4399499">
                <a:moveTo>
                  <a:pt x="0" y="0"/>
                </a:moveTo>
                <a:lnTo>
                  <a:pt x="3042142" y="0"/>
                </a:lnTo>
                <a:lnTo>
                  <a:pt x="3042142" y="4399499"/>
                </a:lnTo>
                <a:lnTo>
                  <a:pt x="0" y="4399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3" name="Group 43"/>
          <p:cNvGrpSpPr/>
          <p:nvPr/>
        </p:nvGrpSpPr>
        <p:grpSpPr>
          <a:xfrm>
            <a:off x="1427695" y="3478577"/>
            <a:ext cx="1383060" cy="1455690"/>
            <a:chOff x="0" y="0"/>
            <a:chExt cx="1838947" cy="193551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838960" cy="1935480"/>
            </a:xfrm>
            <a:custGeom>
              <a:avLst/>
              <a:gdLst/>
              <a:ahLst/>
              <a:cxnLst/>
              <a:rect l="l" t="t" r="r" b="b"/>
              <a:pathLst>
                <a:path w="1838960" h="1935480">
                  <a:moveTo>
                    <a:pt x="919480" y="0"/>
                  </a:moveTo>
                  <a:cubicBezTo>
                    <a:pt x="411607" y="0"/>
                    <a:pt x="0" y="433324"/>
                    <a:pt x="0" y="967740"/>
                  </a:cubicBezTo>
                  <a:cubicBezTo>
                    <a:pt x="0" y="1502156"/>
                    <a:pt x="411607" y="1935480"/>
                    <a:pt x="919480" y="1935480"/>
                  </a:cubicBezTo>
                  <a:cubicBezTo>
                    <a:pt x="1427353" y="1935480"/>
                    <a:pt x="1838960" y="1502156"/>
                    <a:pt x="1838960" y="967740"/>
                  </a:cubicBezTo>
                  <a:cubicBezTo>
                    <a:pt x="1838960" y="433324"/>
                    <a:pt x="1427226" y="0"/>
                    <a:pt x="919480" y="0"/>
                  </a:cubicBezTo>
                  <a:close/>
                </a:path>
              </a:pathLst>
            </a:custGeom>
            <a:blipFill>
              <a:blip r:embed="rId14"/>
              <a:stretch>
                <a:fillRect l="-2625" r="-2624"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92381" y="5151461"/>
            <a:ext cx="2702612" cy="683168"/>
            <a:chOff x="0" y="0"/>
            <a:chExt cx="3593452" cy="90835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593465" cy="908304"/>
            </a:xfrm>
            <a:custGeom>
              <a:avLst/>
              <a:gdLst/>
              <a:ahLst/>
              <a:cxnLst/>
              <a:rect l="l" t="t" r="r" b="b"/>
              <a:pathLst>
                <a:path w="3593465" h="908304">
                  <a:moveTo>
                    <a:pt x="0" y="0"/>
                  </a:moveTo>
                  <a:lnTo>
                    <a:pt x="3593465" y="0"/>
                  </a:lnTo>
                  <a:lnTo>
                    <a:pt x="3593465" y="908304"/>
                  </a:lnTo>
                  <a:lnTo>
                    <a:pt x="0" y="908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31" b="-270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92381" y="5121832"/>
            <a:ext cx="2702612" cy="712797"/>
            <a:chOff x="0" y="0"/>
            <a:chExt cx="3593452" cy="94775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593449" cy="947751"/>
            </a:xfrm>
            <a:custGeom>
              <a:avLst/>
              <a:gdLst/>
              <a:ahLst/>
              <a:cxnLst/>
              <a:rect l="l" t="t" r="r" b="b"/>
              <a:pathLst>
                <a:path w="3593449" h="947751">
                  <a:moveTo>
                    <a:pt x="0" y="0"/>
                  </a:moveTo>
                  <a:lnTo>
                    <a:pt x="3593449" y="0"/>
                  </a:lnTo>
                  <a:lnTo>
                    <a:pt x="3593449" y="947751"/>
                  </a:lnTo>
                  <a:lnTo>
                    <a:pt x="0" y="9477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878" b="-2387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3593452" cy="9953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09"/>
                </a:lnSpc>
              </a:pPr>
              <a:r>
                <a:rPr lang="en-US" sz="2174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Trainee Coordinator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898866" y="3478653"/>
            <a:ext cx="1477630" cy="1477630"/>
            <a:chOff x="0" y="0"/>
            <a:chExt cx="1964690" cy="196469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964690" cy="1964690"/>
            </a:xfrm>
            <a:custGeom>
              <a:avLst/>
              <a:gdLst/>
              <a:ahLst/>
              <a:cxnLst/>
              <a:rect l="l" t="t" r="r" b="b"/>
              <a:pathLst>
                <a:path w="1964690" h="1964690">
                  <a:moveTo>
                    <a:pt x="982345" y="0"/>
                  </a:moveTo>
                  <a:cubicBezTo>
                    <a:pt x="439801" y="0"/>
                    <a:pt x="0" y="439801"/>
                    <a:pt x="0" y="982345"/>
                  </a:cubicBezTo>
                  <a:cubicBezTo>
                    <a:pt x="0" y="1524889"/>
                    <a:pt x="439801" y="1964690"/>
                    <a:pt x="982345" y="1964690"/>
                  </a:cubicBezTo>
                  <a:cubicBezTo>
                    <a:pt x="1524889" y="1964690"/>
                    <a:pt x="1964690" y="1524889"/>
                    <a:pt x="1964690" y="982345"/>
                  </a:cubicBezTo>
                  <a:cubicBezTo>
                    <a:pt x="1964690" y="439801"/>
                    <a:pt x="1524889" y="0"/>
                    <a:pt x="982345" y="0"/>
                  </a:cubicBezTo>
                  <a:close/>
                </a:path>
              </a:pathLst>
            </a:custGeom>
            <a:blipFill>
              <a:blip r:embed="rId15"/>
              <a:stretch>
                <a:fillRect l="-263311" t="-198874" r="-33977" b="-5601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" name="Freeform 52"/>
          <p:cNvSpPr/>
          <p:nvPr/>
        </p:nvSpPr>
        <p:spPr>
          <a:xfrm>
            <a:off x="11125087" y="6303032"/>
            <a:ext cx="3201969" cy="4399604"/>
          </a:xfrm>
          <a:custGeom>
            <a:avLst/>
            <a:gdLst/>
            <a:ahLst/>
            <a:cxnLst/>
            <a:rect l="l" t="t" r="r" b="b"/>
            <a:pathLst>
              <a:path w="3201969" h="4399604">
                <a:moveTo>
                  <a:pt x="0" y="0"/>
                </a:moveTo>
                <a:lnTo>
                  <a:pt x="3201969" y="0"/>
                </a:lnTo>
                <a:lnTo>
                  <a:pt x="3201969" y="4399604"/>
                </a:lnTo>
                <a:lnTo>
                  <a:pt x="0" y="439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Freeform 53"/>
          <p:cNvSpPr/>
          <p:nvPr/>
        </p:nvSpPr>
        <p:spPr>
          <a:xfrm>
            <a:off x="4069530" y="6303032"/>
            <a:ext cx="3201969" cy="4399604"/>
          </a:xfrm>
          <a:custGeom>
            <a:avLst/>
            <a:gdLst/>
            <a:ahLst/>
            <a:cxnLst/>
            <a:rect l="l" t="t" r="r" b="b"/>
            <a:pathLst>
              <a:path w="3201969" h="4399604">
                <a:moveTo>
                  <a:pt x="0" y="0"/>
                </a:moveTo>
                <a:lnTo>
                  <a:pt x="3201969" y="0"/>
                </a:lnTo>
                <a:lnTo>
                  <a:pt x="3201969" y="4399604"/>
                </a:lnTo>
                <a:lnTo>
                  <a:pt x="0" y="439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54"/>
          <p:cNvSpPr/>
          <p:nvPr/>
        </p:nvSpPr>
        <p:spPr>
          <a:xfrm>
            <a:off x="7597304" y="6303032"/>
            <a:ext cx="3201969" cy="4399604"/>
          </a:xfrm>
          <a:custGeom>
            <a:avLst/>
            <a:gdLst/>
            <a:ahLst/>
            <a:cxnLst/>
            <a:rect l="l" t="t" r="r" b="b"/>
            <a:pathLst>
              <a:path w="3201969" h="4399604">
                <a:moveTo>
                  <a:pt x="0" y="0"/>
                </a:moveTo>
                <a:lnTo>
                  <a:pt x="3201969" y="0"/>
                </a:lnTo>
                <a:lnTo>
                  <a:pt x="3201969" y="4399604"/>
                </a:lnTo>
                <a:lnTo>
                  <a:pt x="0" y="439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14652860" y="6303032"/>
            <a:ext cx="3201969" cy="4399604"/>
          </a:xfrm>
          <a:custGeom>
            <a:avLst/>
            <a:gdLst/>
            <a:ahLst/>
            <a:cxnLst/>
            <a:rect l="l" t="t" r="r" b="b"/>
            <a:pathLst>
              <a:path w="3201969" h="4399604">
                <a:moveTo>
                  <a:pt x="0" y="0"/>
                </a:moveTo>
                <a:lnTo>
                  <a:pt x="3201969" y="0"/>
                </a:lnTo>
                <a:lnTo>
                  <a:pt x="3201969" y="4399604"/>
                </a:lnTo>
                <a:lnTo>
                  <a:pt x="0" y="4399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6" name="Group 56"/>
          <p:cNvGrpSpPr/>
          <p:nvPr/>
        </p:nvGrpSpPr>
        <p:grpSpPr>
          <a:xfrm>
            <a:off x="4222490" y="8588202"/>
            <a:ext cx="2844596" cy="683177"/>
            <a:chOff x="0" y="0"/>
            <a:chExt cx="3782238" cy="90836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782187" cy="908431"/>
            </a:xfrm>
            <a:custGeom>
              <a:avLst/>
              <a:gdLst/>
              <a:ahLst/>
              <a:cxnLst/>
              <a:rect l="l" t="t" r="r" b="b"/>
              <a:pathLst>
                <a:path w="3782187" h="908431">
                  <a:moveTo>
                    <a:pt x="0" y="0"/>
                  </a:moveTo>
                  <a:lnTo>
                    <a:pt x="3782187" y="0"/>
                  </a:lnTo>
                  <a:lnTo>
                    <a:pt x="3782187" y="908431"/>
                  </a:lnTo>
                  <a:lnTo>
                    <a:pt x="0" y="908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072" r="-1" b="-310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Freeform 58"/>
          <p:cNvSpPr/>
          <p:nvPr/>
        </p:nvSpPr>
        <p:spPr>
          <a:xfrm>
            <a:off x="622592" y="6302965"/>
            <a:ext cx="3042142" cy="4399499"/>
          </a:xfrm>
          <a:custGeom>
            <a:avLst/>
            <a:gdLst/>
            <a:ahLst/>
            <a:cxnLst/>
            <a:rect l="l" t="t" r="r" b="b"/>
            <a:pathLst>
              <a:path w="3042142" h="4399499">
                <a:moveTo>
                  <a:pt x="0" y="0"/>
                </a:moveTo>
                <a:lnTo>
                  <a:pt x="3042142" y="0"/>
                </a:lnTo>
                <a:lnTo>
                  <a:pt x="3042142" y="4399499"/>
                </a:lnTo>
                <a:lnTo>
                  <a:pt x="0" y="4399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9" name="Group 59"/>
          <p:cNvGrpSpPr/>
          <p:nvPr/>
        </p:nvGrpSpPr>
        <p:grpSpPr>
          <a:xfrm>
            <a:off x="792381" y="8588087"/>
            <a:ext cx="2702612" cy="683168"/>
            <a:chOff x="0" y="0"/>
            <a:chExt cx="3593452" cy="90835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593465" cy="908304"/>
            </a:xfrm>
            <a:custGeom>
              <a:avLst/>
              <a:gdLst/>
              <a:ahLst/>
              <a:cxnLst/>
              <a:rect l="l" t="t" r="r" b="b"/>
              <a:pathLst>
                <a:path w="3593465" h="908304">
                  <a:moveTo>
                    <a:pt x="0" y="0"/>
                  </a:moveTo>
                  <a:lnTo>
                    <a:pt x="3593465" y="0"/>
                  </a:lnTo>
                  <a:lnTo>
                    <a:pt x="3593465" y="908304"/>
                  </a:lnTo>
                  <a:lnTo>
                    <a:pt x="0" y="908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31" b="-270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92381" y="8358579"/>
            <a:ext cx="2737933" cy="722052"/>
            <a:chOff x="0" y="0"/>
            <a:chExt cx="3650577" cy="96273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650578" cy="962735"/>
            </a:xfrm>
            <a:custGeom>
              <a:avLst/>
              <a:gdLst/>
              <a:ahLst/>
              <a:cxnLst/>
              <a:rect l="l" t="t" r="r" b="b"/>
              <a:pathLst>
                <a:path w="3650578" h="962735">
                  <a:moveTo>
                    <a:pt x="0" y="0"/>
                  </a:moveTo>
                  <a:lnTo>
                    <a:pt x="3650578" y="0"/>
                  </a:lnTo>
                  <a:lnTo>
                    <a:pt x="3650578" y="962735"/>
                  </a:lnTo>
                  <a:lnTo>
                    <a:pt x="0" y="9627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884" b="-238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3650577" cy="1010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Sara Alshamrani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13914" y="8551227"/>
            <a:ext cx="2750791" cy="1096909"/>
            <a:chOff x="0" y="0"/>
            <a:chExt cx="3667722" cy="146254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667728" cy="1462545"/>
            </a:xfrm>
            <a:custGeom>
              <a:avLst/>
              <a:gdLst/>
              <a:ahLst/>
              <a:cxnLst/>
              <a:rect l="l" t="t" r="r" b="b"/>
              <a:pathLst>
                <a:path w="3667728" h="1462545">
                  <a:moveTo>
                    <a:pt x="0" y="0"/>
                  </a:moveTo>
                  <a:lnTo>
                    <a:pt x="3667728" y="0"/>
                  </a:lnTo>
                  <a:lnTo>
                    <a:pt x="3667728" y="1462545"/>
                  </a:lnTo>
                  <a:lnTo>
                    <a:pt x="0" y="14625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62" r="-11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3667722" cy="149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Lead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189196" y="8358579"/>
            <a:ext cx="2737933" cy="722052"/>
            <a:chOff x="0" y="0"/>
            <a:chExt cx="3650577" cy="96273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650578" cy="962735"/>
            </a:xfrm>
            <a:custGeom>
              <a:avLst/>
              <a:gdLst/>
              <a:ahLst/>
              <a:cxnLst/>
              <a:rect l="l" t="t" r="r" b="b"/>
              <a:pathLst>
                <a:path w="3650578" h="962735">
                  <a:moveTo>
                    <a:pt x="0" y="0"/>
                  </a:moveTo>
                  <a:lnTo>
                    <a:pt x="3650578" y="0"/>
                  </a:lnTo>
                  <a:lnTo>
                    <a:pt x="3650578" y="962735"/>
                  </a:lnTo>
                  <a:lnTo>
                    <a:pt x="0" y="9627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884" b="-238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3650577" cy="10103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Afnan Aljohani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752949" y="8159668"/>
            <a:ext cx="2737933" cy="686333"/>
            <a:chOff x="0" y="0"/>
            <a:chExt cx="3650577" cy="91511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650615" cy="915162"/>
            </a:xfrm>
            <a:custGeom>
              <a:avLst/>
              <a:gdLst/>
              <a:ahLst/>
              <a:cxnLst/>
              <a:rect l="l" t="t" r="r" b="b"/>
              <a:pathLst>
                <a:path w="3650615" h="915162">
                  <a:moveTo>
                    <a:pt x="0" y="0"/>
                  </a:moveTo>
                  <a:lnTo>
                    <a:pt x="3650615" y="0"/>
                  </a:lnTo>
                  <a:lnTo>
                    <a:pt x="3650615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674" r="1" b="-276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4680696" y="6553640"/>
            <a:ext cx="1754934" cy="1754934"/>
            <a:chOff x="0" y="0"/>
            <a:chExt cx="2339912" cy="233991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339848" cy="2339848"/>
            </a:xfrm>
            <a:custGeom>
              <a:avLst/>
              <a:gdLst/>
              <a:ahLst/>
              <a:cxnLst/>
              <a:rect l="l" t="t" r="r" b="b"/>
              <a:pathLst>
                <a:path w="2339848" h="2339848">
                  <a:moveTo>
                    <a:pt x="1169924" y="0"/>
                  </a:moveTo>
                  <a:cubicBezTo>
                    <a:pt x="523748" y="0"/>
                    <a:pt x="0" y="523748"/>
                    <a:pt x="0" y="1169924"/>
                  </a:cubicBezTo>
                  <a:cubicBezTo>
                    <a:pt x="0" y="1816100"/>
                    <a:pt x="523748" y="2339848"/>
                    <a:pt x="1169924" y="2339848"/>
                  </a:cubicBezTo>
                  <a:cubicBezTo>
                    <a:pt x="1816100" y="2339848"/>
                    <a:pt x="2339848" y="1816100"/>
                    <a:pt x="2339848" y="1169924"/>
                  </a:cubicBezTo>
                  <a:cubicBezTo>
                    <a:pt x="2339848" y="523748"/>
                    <a:pt x="1816100" y="0"/>
                    <a:pt x="1169924" y="0"/>
                  </a:cubicBezTo>
                  <a:close/>
                </a:path>
              </a:pathLst>
            </a:custGeom>
            <a:blipFill>
              <a:blip r:embed="rId16"/>
              <a:stretch>
                <a:fillRect t="-58032" r="-2" b="-580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448541" y="6654942"/>
            <a:ext cx="1754934" cy="1754934"/>
            <a:chOff x="0" y="0"/>
            <a:chExt cx="2339912" cy="233991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339848" cy="2339848"/>
            </a:xfrm>
            <a:custGeom>
              <a:avLst/>
              <a:gdLst/>
              <a:ahLst/>
              <a:cxnLst/>
              <a:rect l="l" t="t" r="r" b="b"/>
              <a:pathLst>
                <a:path w="2339848" h="2339848">
                  <a:moveTo>
                    <a:pt x="1169924" y="0"/>
                  </a:moveTo>
                  <a:cubicBezTo>
                    <a:pt x="523748" y="0"/>
                    <a:pt x="0" y="523748"/>
                    <a:pt x="0" y="1169924"/>
                  </a:cubicBezTo>
                  <a:cubicBezTo>
                    <a:pt x="0" y="1816100"/>
                    <a:pt x="523748" y="2339848"/>
                    <a:pt x="1169924" y="2339848"/>
                  </a:cubicBezTo>
                  <a:cubicBezTo>
                    <a:pt x="1816100" y="2339848"/>
                    <a:pt x="2339848" y="1816100"/>
                    <a:pt x="2339848" y="1169924"/>
                  </a:cubicBezTo>
                  <a:cubicBezTo>
                    <a:pt x="2339848" y="523748"/>
                    <a:pt x="1816100" y="0"/>
                    <a:pt x="1169924" y="0"/>
                  </a:cubicBezTo>
                  <a:close/>
                </a:path>
              </a:pathLst>
            </a:custGeom>
            <a:blipFill>
              <a:blip r:embed="rId17"/>
              <a:stretch>
                <a:fillRect t="-20030" r="-2" b="-2003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5482196" y="6612951"/>
            <a:ext cx="1754934" cy="1754934"/>
            <a:chOff x="0" y="0"/>
            <a:chExt cx="2339912" cy="233991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339848" cy="2339848"/>
            </a:xfrm>
            <a:custGeom>
              <a:avLst/>
              <a:gdLst/>
              <a:ahLst/>
              <a:cxnLst/>
              <a:rect l="l" t="t" r="r" b="b"/>
              <a:pathLst>
                <a:path w="2339848" h="2339848">
                  <a:moveTo>
                    <a:pt x="1169924" y="0"/>
                  </a:moveTo>
                  <a:cubicBezTo>
                    <a:pt x="523748" y="0"/>
                    <a:pt x="0" y="523748"/>
                    <a:pt x="0" y="1169924"/>
                  </a:cubicBezTo>
                  <a:cubicBezTo>
                    <a:pt x="0" y="1816100"/>
                    <a:pt x="523748" y="2339848"/>
                    <a:pt x="1169924" y="2339848"/>
                  </a:cubicBezTo>
                  <a:cubicBezTo>
                    <a:pt x="1816100" y="2339848"/>
                    <a:pt x="2339848" y="1816100"/>
                    <a:pt x="2339848" y="1169924"/>
                  </a:cubicBezTo>
                  <a:cubicBezTo>
                    <a:pt x="2339848" y="523748"/>
                    <a:pt x="1816100" y="0"/>
                    <a:pt x="1169924" y="0"/>
                  </a:cubicBezTo>
                  <a:close/>
                </a:path>
              </a:pathLst>
            </a:custGeom>
            <a:blipFill>
              <a:blip r:embed="rId18"/>
              <a:stretch>
                <a:fillRect r="-2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1843608" y="6537214"/>
            <a:ext cx="1830671" cy="1830671"/>
            <a:chOff x="0" y="0"/>
            <a:chExt cx="13716000" cy="137160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19"/>
              <a:stretch>
                <a:fillRect l="-58707" t="-186941" r="-86115" b="-24240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4324080" y="5771495"/>
            <a:ext cx="2692898" cy="396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100">
                <a:solidFill>
                  <a:srgbClr val="3C4652"/>
                </a:solidFill>
                <a:latin typeface="Calibri (MS)"/>
                <a:ea typeface="Calibri (MS)"/>
                <a:cs typeface="Calibri (MS)"/>
                <a:sym typeface="Calibri (MS)"/>
              </a:rPr>
              <a:t>Mohamed Al Shirshabi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379637" y="5771495"/>
            <a:ext cx="2692898" cy="437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</a:pPr>
            <a:r>
              <a:rPr lang="en-US" sz="2400">
                <a:solidFill>
                  <a:srgbClr val="3C4652"/>
                </a:solidFill>
                <a:latin typeface="Calibri (MS)"/>
                <a:ea typeface="Calibri (MS)"/>
                <a:cs typeface="Calibri (MS)"/>
                <a:sym typeface="Calibri (MS)"/>
              </a:rPr>
              <a:t>Ahmed Batwa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4907420" y="5761970"/>
            <a:ext cx="2692898" cy="46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99">
                <a:solidFill>
                  <a:srgbClr val="3C4652"/>
                </a:solidFill>
                <a:latin typeface="Calibri (MS)"/>
                <a:ea typeface="Calibri (MS)"/>
                <a:cs typeface="Calibri (MS)"/>
                <a:sym typeface="Calibri (MS)"/>
              </a:rPr>
              <a:t>Shaik Zaheeruddin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64438" y="5754823"/>
            <a:ext cx="2558478" cy="48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</a:pPr>
            <a:r>
              <a:rPr lang="en-US" sz="2600">
                <a:solidFill>
                  <a:srgbClr val="3C4652"/>
                </a:solidFill>
                <a:latin typeface="Calibri (MS)"/>
                <a:ea typeface="Calibri (MS)"/>
                <a:cs typeface="Calibri (MS)"/>
                <a:sym typeface="Calibri (MS)"/>
              </a:rPr>
              <a:t>Marwan Al-haj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332673" y="8610106"/>
            <a:ext cx="2692898" cy="46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99">
                <a:solidFill>
                  <a:srgbClr val="3C4652"/>
                </a:solidFill>
                <a:latin typeface="Calibri (MS)"/>
                <a:ea typeface="Calibri (MS)"/>
                <a:cs typeface="Calibri (MS)"/>
                <a:sym typeface="Calibri (MS)"/>
              </a:rPr>
              <a:t>Sahad Marwi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4965231" y="8633881"/>
            <a:ext cx="2692898" cy="46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99">
                <a:solidFill>
                  <a:srgbClr val="3C4652"/>
                </a:solidFill>
                <a:latin typeface="Calibri (MS)"/>
                <a:ea typeface="Calibri (MS)"/>
                <a:cs typeface="Calibri (MS)"/>
                <a:sym typeface="Calibri (MS)"/>
              </a:rPr>
              <a:t>Rahaf Alhadhrami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7623219" y="9074453"/>
            <a:ext cx="2997391" cy="795476"/>
            <a:chOff x="0" y="0"/>
            <a:chExt cx="3782238" cy="100376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782236" cy="1003763"/>
            </a:xfrm>
            <a:custGeom>
              <a:avLst/>
              <a:gdLst/>
              <a:ahLst/>
              <a:cxnLst/>
              <a:rect l="l" t="t" r="r" b="b"/>
              <a:pathLst>
                <a:path w="3782236" h="1003763">
                  <a:moveTo>
                    <a:pt x="0" y="0"/>
                  </a:moveTo>
                  <a:lnTo>
                    <a:pt x="3782236" y="0"/>
                  </a:lnTo>
                  <a:lnTo>
                    <a:pt x="3782236" y="1003763"/>
                  </a:lnTo>
                  <a:lnTo>
                    <a:pt x="0" y="10037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209" b="-206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3782238" cy="1041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Engineer &amp; Data Science 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1379637" y="9141573"/>
            <a:ext cx="2997391" cy="795476"/>
            <a:chOff x="0" y="0"/>
            <a:chExt cx="3782238" cy="100376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782236" cy="1003763"/>
            </a:xfrm>
            <a:custGeom>
              <a:avLst/>
              <a:gdLst/>
              <a:ahLst/>
              <a:cxnLst/>
              <a:rect l="l" t="t" r="r" b="b"/>
              <a:pathLst>
                <a:path w="3782236" h="1003763">
                  <a:moveTo>
                    <a:pt x="0" y="0"/>
                  </a:moveTo>
                  <a:lnTo>
                    <a:pt x="3782236" y="0"/>
                  </a:lnTo>
                  <a:lnTo>
                    <a:pt x="3782236" y="1003763"/>
                  </a:lnTo>
                  <a:lnTo>
                    <a:pt x="0" y="10037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209" b="-206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3782238" cy="1041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Engineer &amp; Data Science 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4777077" y="9141573"/>
            <a:ext cx="2997391" cy="795476"/>
            <a:chOff x="0" y="0"/>
            <a:chExt cx="3782238" cy="100376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782236" cy="1003763"/>
            </a:xfrm>
            <a:custGeom>
              <a:avLst/>
              <a:gdLst/>
              <a:ahLst/>
              <a:cxnLst/>
              <a:rect l="l" t="t" r="r" b="b"/>
              <a:pathLst>
                <a:path w="3782236" h="1003763">
                  <a:moveTo>
                    <a:pt x="0" y="0"/>
                  </a:moveTo>
                  <a:lnTo>
                    <a:pt x="3782236" y="0"/>
                  </a:lnTo>
                  <a:lnTo>
                    <a:pt x="3782236" y="1003763"/>
                  </a:lnTo>
                  <a:lnTo>
                    <a:pt x="0" y="10037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209" b="-206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3782238" cy="1041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Engineer &amp; Data Science 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276063" y="9080632"/>
            <a:ext cx="2997391" cy="795476"/>
            <a:chOff x="0" y="0"/>
            <a:chExt cx="3782238" cy="1003766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782236" cy="1003763"/>
            </a:xfrm>
            <a:custGeom>
              <a:avLst/>
              <a:gdLst/>
              <a:ahLst/>
              <a:cxnLst/>
              <a:rect l="l" t="t" r="r" b="b"/>
              <a:pathLst>
                <a:path w="3782236" h="1003763">
                  <a:moveTo>
                    <a:pt x="0" y="0"/>
                  </a:moveTo>
                  <a:lnTo>
                    <a:pt x="3782236" y="0"/>
                  </a:lnTo>
                  <a:lnTo>
                    <a:pt x="3782236" y="1003763"/>
                  </a:lnTo>
                  <a:lnTo>
                    <a:pt x="0" y="10037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209" b="-206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3782238" cy="1041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Engineer &amp; Data Science 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748290" y="9099682"/>
            <a:ext cx="2997391" cy="795476"/>
            <a:chOff x="0" y="0"/>
            <a:chExt cx="3782238" cy="100376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782236" cy="1003763"/>
            </a:xfrm>
            <a:custGeom>
              <a:avLst/>
              <a:gdLst/>
              <a:ahLst/>
              <a:cxnLst/>
              <a:rect l="l" t="t" r="r" b="b"/>
              <a:pathLst>
                <a:path w="3782236" h="1003763">
                  <a:moveTo>
                    <a:pt x="0" y="0"/>
                  </a:moveTo>
                  <a:lnTo>
                    <a:pt x="3782236" y="0"/>
                  </a:lnTo>
                  <a:lnTo>
                    <a:pt x="3782236" y="1003763"/>
                  </a:lnTo>
                  <a:lnTo>
                    <a:pt x="0" y="10037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209" b="-206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3782238" cy="1041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F27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Engineer &amp; Data Science </a:t>
              </a:r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7852821" y="8677226"/>
            <a:ext cx="2692898" cy="46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99">
                <a:solidFill>
                  <a:srgbClr val="3C4652"/>
                </a:solidFill>
                <a:latin typeface="Calibri (MS)"/>
                <a:ea typeface="Calibri (MS)"/>
                <a:cs typeface="Calibri (MS)"/>
                <a:sym typeface="Calibri (MS)"/>
              </a:rPr>
              <a:t>Khalid Alhrabi </a:t>
            </a:r>
          </a:p>
        </p:txBody>
      </p:sp>
      <p:grpSp>
        <p:nvGrpSpPr>
          <p:cNvPr id="102" name="Group 102"/>
          <p:cNvGrpSpPr/>
          <p:nvPr/>
        </p:nvGrpSpPr>
        <p:grpSpPr>
          <a:xfrm>
            <a:off x="1241759" y="6537214"/>
            <a:ext cx="1754934" cy="1754934"/>
            <a:chOff x="0" y="0"/>
            <a:chExt cx="2339912" cy="2339912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339848" cy="2339848"/>
            </a:xfrm>
            <a:custGeom>
              <a:avLst/>
              <a:gdLst/>
              <a:ahLst/>
              <a:cxnLst/>
              <a:rect l="l" t="t" r="r" b="b"/>
              <a:pathLst>
                <a:path w="2339848" h="2339848">
                  <a:moveTo>
                    <a:pt x="1169924" y="0"/>
                  </a:moveTo>
                  <a:cubicBezTo>
                    <a:pt x="523748" y="0"/>
                    <a:pt x="0" y="523748"/>
                    <a:pt x="0" y="1169924"/>
                  </a:cubicBezTo>
                  <a:cubicBezTo>
                    <a:pt x="0" y="1816100"/>
                    <a:pt x="523748" y="2339848"/>
                    <a:pt x="1169924" y="2339848"/>
                  </a:cubicBezTo>
                  <a:cubicBezTo>
                    <a:pt x="1816100" y="2339848"/>
                    <a:pt x="2339848" y="1816100"/>
                    <a:pt x="2339848" y="1169924"/>
                  </a:cubicBezTo>
                  <a:cubicBezTo>
                    <a:pt x="2339848" y="523748"/>
                    <a:pt x="1816100" y="0"/>
                    <a:pt x="1169924" y="0"/>
                  </a:cubicBez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63672" y="9573768"/>
            <a:ext cx="987552" cy="288036"/>
            <a:chOff x="0" y="0"/>
            <a:chExt cx="1316736" cy="384048"/>
          </a:xfrm>
        </p:grpSpPr>
        <p:sp>
          <p:nvSpPr>
            <p:cNvPr id="3" name="Freeform 3" descr="/tmp/claude-0/-home-claude/53688bc9-27e3-5686-afed-955967f8a57a/scratchpad/imgs/panda_dark.png"/>
            <p:cNvSpPr/>
            <p:nvPr/>
          </p:nvSpPr>
          <p:spPr>
            <a:xfrm>
              <a:off x="0" y="0"/>
              <a:ext cx="1316736" cy="384048"/>
            </a:xfrm>
            <a:custGeom>
              <a:avLst/>
              <a:gdLst/>
              <a:ahLst/>
              <a:cxnLst/>
              <a:rect l="l" t="t" r="r" b="b"/>
              <a:pathLst>
                <a:path w="1316736" h="384048">
                  <a:moveTo>
                    <a:pt x="0" y="0"/>
                  </a:moveTo>
                  <a:lnTo>
                    <a:pt x="1316736" y="0"/>
                  </a:lnTo>
                  <a:lnTo>
                    <a:pt x="1316736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" b="-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26972" y="1858137"/>
            <a:ext cx="1585021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450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6972" y="2326958"/>
            <a:ext cx="15850210" cy="128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4200">
                <a:solidFill>
                  <a:srgbClr val="1F4A30"/>
                </a:solidFill>
                <a:latin typeface="Cambria"/>
                <a:ea typeface="Cambria"/>
                <a:cs typeface="Cambria"/>
                <a:sym typeface="Cambria"/>
              </a:rPr>
              <a:t>What we will cover today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6972" y="3401378"/>
            <a:ext cx="851215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300">
                <a:solidFill>
                  <a:srgbClr val="4A55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THREE STEPS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26820" y="3988117"/>
            <a:ext cx="11841480" cy="1440180"/>
            <a:chOff x="0" y="0"/>
            <a:chExt cx="15788640" cy="19202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88639" cy="1920240"/>
            </a:xfrm>
            <a:custGeom>
              <a:avLst/>
              <a:gdLst/>
              <a:ahLst/>
              <a:cxnLst/>
              <a:rect l="l" t="t" r="r" b="b"/>
              <a:pathLst>
                <a:path w="15788639" h="192024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5634970" y="0"/>
                  </a:lnTo>
                  <a:cubicBezTo>
                    <a:pt x="15719806" y="0"/>
                    <a:pt x="15788639" y="68834"/>
                    <a:pt x="15788639" y="153670"/>
                  </a:cubicBezTo>
                  <a:lnTo>
                    <a:pt x="15788639" y="1766570"/>
                  </a:lnTo>
                  <a:cubicBezTo>
                    <a:pt x="15788639" y="1851406"/>
                    <a:pt x="15719806" y="1920240"/>
                    <a:pt x="15634970" y="1920240"/>
                  </a:cubicBezTo>
                  <a:lnTo>
                    <a:pt x="153670" y="1920240"/>
                  </a:lnTo>
                  <a:cubicBezTo>
                    <a:pt x="68834" y="1920240"/>
                    <a:pt x="0" y="1851406"/>
                    <a:pt x="0" y="1766570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1292" y="4365308"/>
            <a:ext cx="685800" cy="685800"/>
            <a:chOff x="0" y="0"/>
            <a:chExt cx="914400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2412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01292" y="4365308"/>
            <a:ext cx="685800" cy="685800"/>
            <a:chOff x="0" y="0"/>
            <a:chExt cx="91440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61260" y="4142422"/>
            <a:ext cx="12345352" cy="1165860"/>
            <a:chOff x="0" y="0"/>
            <a:chExt cx="16460470" cy="15544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60470" cy="1554480"/>
            </a:xfrm>
            <a:custGeom>
              <a:avLst/>
              <a:gdLst/>
              <a:ahLst/>
              <a:cxnLst/>
              <a:rect l="l" t="t" r="r" b="b"/>
              <a:pathLst>
                <a:path w="16460470" h="1554480">
                  <a:moveTo>
                    <a:pt x="0" y="0"/>
                  </a:moveTo>
                  <a:lnTo>
                    <a:pt x="16460470" y="0"/>
                  </a:lnTo>
                  <a:lnTo>
                    <a:pt x="1646047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328" b="-15632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6460470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C26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understanding</a:t>
              </a:r>
              <a:r>
                <a:rPr lang="en-US" sz="1950">
                  <a:solidFill>
                    <a:srgbClr val="4A55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the problem statement and the objectives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6820" y="5565458"/>
            <a:ext cx="11841480" cy="1440180"/>
            <a:chOff x="0" y="0"/>
            <a:chExt cx="15788640" cy="19202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788639" cy="1920240"/>
            </a:xfrm>
            <a:custGeom>
              <a:avLst/>
              <a:gdLst/>
              <a:ahLst/>
              <a:cxnLst/>
              <a:rect l="l" t="t" r="r" b="b"/>
              <a:pathLst>
                <a:path w="15788639" h="192024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5634970" y="0"/>
                  </a:lnTo>
                  <a:cubicBezTo>
                    <a:pt x="15719806" y="0"/>
                    <a:pt x="15788639" y="68834"/>
                    <a:pt x="15788639" y="153670"/>
                  </a:cubicBezTo>
                  <a:lnTo>
                    <a:pt x="15788639" y="1766570"/>
                  </a:lnTo>
                  <a:cubicBezTo>
                    <a:pt x="15788639" y="1851406"/>
                    <a:pt x="15719806" y="1920240"/>
                    <a:pt x="15634970" y="1920240"/>
                  </a:cubicBezTo>
                  <a:lnTo>
                    <a:pt x="153670" y="1920240"/>
                  </a:lnTo>
                  <a:cubicBezTo>
                    <a:pt x="68834" y="1920240"/>
                    <a:pt x="0" y="1851406"/>
                    <a:pt x="0" y="1766570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01292" y="5942647"/>
            <a:ext cx="685800" cy="685800"/>
            <a:chOff x="0" y="0"/>
            <a:chExt cx="91440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B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01292" y="5942647"/>
            <a:ext cx="685800" cy="685800"/>
            <a:chOff x="0" y="0"/>
            <a:chExt cx="914400" cy="914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461260" y="5702618"/>
            <a:ext cx="10554652" cy="1165860"/>
            <a:chOff x="0" y="0"/>
            <a:chExt cx="14072870" cy="15544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072870" cy="1554480"/>
            </a:xfrm>
            <a:custGeom>
              <a:avLst/>
              <a:gdLst/>
              <a:ahLst/>
              <a:cxnLst/>
              <a:rect l="l" t="t" r="r" b="b"/>
              <a:pathLst>
                <a:path w="14072870" h="1554480">
                  <a:moveTo>
                    <a:pt x="0" y="0"/>
                  </a:moveTo>
                  <a:lnTo>
                    <a:pt x="14072870" y="0"/>
                  </a:lnTo>
                  <a:lnTo>
                    <a:pt x="1407287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400" b="-1264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4072870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C26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understanding</a:t>
              </a:r>
              <a:r>
                <a:rPr lang="en-US" sz="1950">
                  <a:solidFill>
                    <a:srgbClr val="4A55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what is data tell us about stockouts, shelf life and waste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26820" y="7142797"/>
            <a:ext cx="11796712" cy="1440180"/>
            <a:chOff x="0" y="0"/>
            <a:chExt cx="15728950" cy="19202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728950" cy="1920240"/>
            </a:xfrm>
            <a:custGeom>
              <a:avLst/>
              <a:gdLst/>
              <a:ahLst/>
              <a:cxnLst/>
              <a:rect l="l" t="t" r="r" b="b"/>
              <a:pathLst>
                <a:path w="15728950" h="192024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5575280" y="0"/>
                  </a:lnTo>
                  <a:cubicBezTo>
                    <a:pt x="15660117" y="0"/>
                    <a:pt x="15728950" y="68834"/>
                    <a:pt x="15728950" y="153670"/>
                  </a:cubicBezTo>
                  <a:lnTo>
                    <a:pt x="15728950" y="1766570"/>
                  </a:lnTo>
                  <a:cubicBezTo>
                    <a:pt x="15728950" y="1851406"/>
                    <a:pt x="15660117" y="1920240"/>
                    <a:pt x="15575280" y="1920240"/>
                  </a:cubicBezTo>
                  <a:lnTo>
                    <a:pt x="153670" y="1920240"/>
                  </a:lnTo>
                  <a:cubicBezTo>
                    <a:pt x="68834" y="1920240"/>
                    <a:pt x="0" y="1851406"/>
                    <a:pt x="0" y="1766570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01292" y="7519988"/>
            <a:ext cx="685800" cy="685800"/>
            <a:chOff x="0" y="0"/>
            <a:chExt cx="914400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6E8C7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01292" y="7519988"/>
            <a:ext cx="685800" cy="685800"/>
            <a:chOff x="0" y="0"/>
            <a:chExt cx="914400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461260" y="7279957"/>
            <a:ext cx="10554652" cy="1165860"/>
            <a:chOff x="0" y="0"/>
            <a:chExt cx="14072870" cy="15544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072870" cy="1554480"/>
            </a:xfrm>
            <a:custGeom>
              <a:avLst/>
              <a:gdLst/>
              <a:ahLst/>
              <a:cxnLst/>
              <a:rect l="l" t="t" r="r" b="b"/>
              <a:pathLst>
                <a:path w="14072870" h="1554480">
                  <a:moveTo>
                    <a:pt x="0" y="0"/>
                  </a:moveTo>
                  <a:lnTo>
                    <a:pt x="14072870" y="0"/>
                  </a:lnTo>
                  <a:lnTo>
                    <a:pt x="1407287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400" b="-1264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14072870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C26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preparation</a:t>
              </a:r>
              <a:r>
                <a:rPr lang="en-US" sz="1950">
                  <a:solidFill>
                    <a:srgbClr val="4A55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what we found in the raw data and how we fixed it without losing real signals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741140" y="9580245"/>
            <a:ext cx="3429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3658850" y="-501396"/>
            <a:ext cx="4711065" cy="2835021"/>
            <a:chOff x="0" y="0"/>
            <a:chExt cx="6281420" cy="378002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281420" cy="3780028"/>
            </a:xfrm>
            <a:custGeom>
              <a:avLst/>
              <a:gdLst/>
              <a:ahLst/>
              <a:cxnLst/>
              <a:rect l="l" t="t" r="r" b="b"/>
              <a:pathLst>
                <a:path w="6281420" h="3780028">
                  <a:moveTo>
                    <a:pt x="0" y="0"/>
                  </a:moveTo>
                  <a:lnTo>
                    <a:pt x="6281420" y="0"/>
                  </a:lnTo>
                  <a:lnTo>
                    <a:pt x="6281420" y="3780028"/>
                  </a:lnTo>
                  <a:lnTo>
                    <a:pt x="0" y="3780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91" r="-34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-577215" y="-663893"/>
            <a:ext cx="4250931" cy="2558120"/>
            <a:chOff x="0" y="0"/>
            <a:chExt cx="5667908" cy="341082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667883" cy="3410839"/>
            </a:xfrm>
            <a:custGeom>
              <a:avLst/>
              <a:gdLst/>
              <a:ahLst/>
              <a:cxnLst/>
              <a:rect l="l" t="t" r="r" b="b"/>
              <a:pathLst>
                <a:path w="5667883" h="3410839">
                  <a:moveTo>
                    <a:pt x="0" y="0"/>
                  </a:moveTo>
                  <a:lnTo>
                    <a:pt x="5667883" y="0"/>
                  </a:lnTo>
                  <a:lnTo>
                    <a:pt x="5667883" y="3410839"/>
                  </a:lnTo>
                  <a:lnTo>
                    <a:pt x="0" y="3410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3086" b="-3308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63672" y="9573768"/>
            <a:ext cx="987552" cy="288036"/>
            <a:chOff x="0" y="0"/>
            <a:chExt cx="1316736" cy="384048"/>
          </a:xfrm>
        </p:grpSpPr>
        <p:sp>
          <p:nvSpPr>
            <p:cNvPr id="3" name="Freeform 3" descr="/tmp/claude-0/-home-claude/53688bc9-27e3-5686-afed-955967f8a57a/scratchpad/imgs/panda_dark.png"/>
            <p:cNvSpPr/>
            <p:nvPr/>
          </p:nvSpPr>
          <p:spPr>
            <a:xfrm>
              <a:off x="0" y="0"/>
              <a:ext cx="1316736" cy="384048"/>
            </a:xfrm>
            <a:custGeom>
              <a:avLst/>
              <a:gdLst/>
              <a:ahLst/>
              <a:cxnLst/>
              <a:rect l="l" t="t" r="r" b="b"/>
              <a:pathLst>
                <a:path w="1316736" h="384048">
                  <a:moveTo>
                    <a:pt x="0" y="0"/>
                  </a:moveTo>
                  <a:lnTo>
                    <a:pt x="1316736" y="0"/>
                  </a:lnTo>
                  <a:lnTo>
                    <a:pt x="1316736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" b="-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19352" y="812292"/>
            <a:ext cx="1585021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450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UNDERSTANDING PHASE 1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352" y="1322070"/>
            <a:ext cx="15850210" cy="128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4200">
                <a:solidFill>
                  <a:srgbClr val="1F4A30"/>
                </a:solidFill>
                <a:latin typeface="Cambria"/>
                <a:ea typeface="Cambria"/>
                <a:cs typeface="Cambria"/>
                <a:sym typeface="Cambria"/>
              </a:rPr>
              <a:t>Industry-Specific Problem Statement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352" y="2400300"/>
            <a:ext cx="6858000" cy="6720840"/>
            <a:chOff x="0" y="0"/>
            <a:chExt cx="9144000" cy="89611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8961120"/>
            </a:xfrm>
            <a:custGeom>
              <a:avLst/>
              <a:gdLst/>
              <a:ahLst/>
              <a:cxnLst/>
              <a:rect l="l" t="t" r="r" b="b"/>
              <a:pathLst>
                <a:path w="9144000" h="8961120">
                  <a:moveTo>
                    <a:pt x="0" y="358394"/>
                  </a:moveTo>
                  <a:cubicBezTo>
                    <a:pt x="0" y="160528"/>
                    <a:pt x="160528" y="0"/>
                    <a:pt x="358394" y="0"/>
                  </a:cubicBezTo>
                  <a:lnTo>
                    <a:pt x="8785606" y="0"/>
                  </a:lnTo>
                  <a:cubicBezTo>
                    <a:pt x="8983472" y="0"/>
                    <a:pt x="9144000" y="160528"/>
                    <a:pt x="9144000" y="358394"/>
                  </a:cubicBezTo>
                  <a:lnTo>
                    <a:pt x="9144000" y="8602726"/>
                  </a:lnTo>
                  <a:cubicBezTo>
                    <a:pt x="9144000" y="8800719"/>
                    <a:pt x="8983472" y="8961120"/>
                    <a:pt x="8785606" y="8961120"/>
                  </a:cubicBezTo>
                  <a:lnTo>
                    <a:pt x="358394" y="8961120"/>
                  </a:lnTo>
                  <a:cubicBezTo>
                    <a:pt x="160528" y="8961120"/>
                    <a:pt x="0" y="8800592"/>
                    <a:pt x="0" y="8602726"/>
                  </a:cubicBezTo>
                  <a:close/>
                </a:path>
              </a:pathLst>
            </a:custGeom>
            <a:solidFill>
              <a:srgbClr val="1F4A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99412" y="2842260"/>
            <a:ext cx="589788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300">
                <a:solidFill>
                  <a:srgbClr val="C9DB8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99412" y="3518535"/>
            <a:ext cx="5897880" cy="5122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Panda Retail's supply-chain roles focus on store/DC replenishment, product availability, overstock, and aged and near-expiry inventory. This project will forecast SKU-store demand and optimize replenishment for fresh and short-shelf-life products, where excess stock creates markdown/expiry waste while insufficient stock causes lost sales.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D5E2D8"/>
                </a:solidFill>
                <a:latin typeface="Calibri (MS)"/>
                <a:ea typeface="Calibri (MS)"/>
                <a:cs typeface="Calibri (MS)"/>
                <a:sym typeface="Calibri (MS)"/>
              </a:rPr>
              <a:t>For the academic dataset, assume a fresh-food forecast MAPE of 25–30%, an 8–12% stockout rate for high-velocity fresh SKUs during promotion/peak periods, and 5–8% of fresh inventory units entering markdown, expiry, or disposal status.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57412" y="2362200"/>
            <a:ext cx="851215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300">
                <a:solidFill>
                  <a:srgbClr val="4A55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OBJECTIVES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57412" y="2948940"/>
            <a:ext cx="8512150" cy="1440180"/>
            <a:chOff x="0" y="0"/>
            <a:chExt cx="11349533" cy="19202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49609" cy="1920240"/>
            </a:xfrm>
            <a:custGeom>
              <a:avLst/>
              <a:gdLst/>
              <a:ahLst/>
              <a:cxnLst/>
              <a:rect l="l" t="t" r="r" b="b"/>
              <a:pathLst>
                <a:path w="11349609" h="192024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1195939" y="0"/>
                  </a:lnTo>
                  <a:cubicBezTo>
                    <a:pt x="11280775" y="0"/>
                    <a:pt x="11349609" y="68834"/>
                    <a:pt x="11349609" y="153670"/>
                  </a:cubicBezTo>
                  <a:lnTo>
                    <a:pt x="11349609" y="1766570"/>
                  </a:lnTo>
                  <a:cubicBezTo>
                    <a:pt x="11349609" y="1851406"/>
                    <a:pt x="11280775" y="1920240"/>
                    <a:pt x="11195939" y="1920240"/>
                  </a:cubicBezTo>
                  <a:lnTo>
                    <a:pt x="153670" y="1920240"/>
                  </a:lnTo>
                  <a:cubicBezTo>
                    <a:pt x="68834" y="1920240"/>
                    <a:pt x="0" y="1851406"/>
                    <a:pt x="0" y="1766570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831732" y="3326130"/>
            <a:ext cx="685800" cy="685800"/>
            <a:chOff x="0" y="0"/>
            <a:chExt cx="91440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C2412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31732" y="3326130"/>
            <a:ext cx="685800" cy="685800"/>
            <a:chOff x="0" y="0"/>
            <a:chExt cx="914400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91852" y="3086100"/>
            <a:ext cx="7003390" cy="1165860"/>
            <a:chOff x="0" y="0"/>
            <a:chExt cx="9337853" cy="15544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37852" cy="1554480"/>
            </a:xfrm>
            <a:custGeom>
              <a:avLst/>
              <a:gdLst/>
              <a:ahLst/>
              <a:cxnLst/>
              <a:rect l="l" t="t" r="r" b="b"/>
              <a:pathLst>
                <a:path w="9337852" h="1554480">
                  <a:moveTo>
                    <a:pt x="0" y="0"/>
                  </a:moveTo>
                  <a:lnTo>
                    <a:pt x="9337852" y="0"/>
                  </a:lnTo>
                  <a:lnTo>
                    <a:pt x="933785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47" b="-670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337853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C26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 store-level demand</a:t>
              </a:r>
              <a:r>
                <a:rPr lang="en-US" sz="1950">
                  <a:solidFill>
                    <a:srgbClr val="4A55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(units sold) for fresh products with Saudi calendar and promotion effects, reducing forecast error (MAPE) from 25–30% to below 15% for high-velocity products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57412" y="4526280"/>
            <a:ext cx="8512150" cy="1440180"/>
            <a:chOff x="0" y="0"/>
            <a:chExt cx="11349533" cy="19202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49609" cy="1920240"/>
            </a:xfrm>
            <a:custGeom>
              <a:avLst/>
              <a:gdLst/>
              <a:ahLst/>
              <a:cxnLst/>
              <a:rect l="l" t="t" r="r" b="b"/>
              <a:pathLst>
                <a:path w="11349609" h="192024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1195939" y="0"/>
                  </a:lnTo>
                  <a:cubicBezTo>
                    <a:pt x="11280775" y="0"/>
                    <a:pt x="11349609" y="68834"/>
                    <a:pt x="11349609" y="153670"/>
                  </a:cubicBezTo>
                  <a:lnTo>
                    <a:pt x="11349609" y="1766570"/>
                  </a:lnTo>
                  <a:cubicBezTo>
                    <a:pt x="11349609" y="1851406"/>
                    <a:pt x="11280775" y="1920240"/>
                    <a:pt x="11195939" y="1920240"/>
                  </a:cubicBezTo>
                  <a:lnTo>
                    <a:pt x="153670" y="1920240"/>
                  </a:lnTo>
                  <a:cubicBezTo>
                    <a:pt x="68834" y="1920240"/>
                    <a:pt x="0" y="1851406"/>
                    <a:pt x="0" y="1766570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831732" y="4903470"/>
            <a:ext cx="685800" cy="685800"/>
            <a:chOff x="0" y="0"/>
            <a:chExt cx="914400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B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831732" y="4903470"/>
            <a:ext cx="685800" cy="685800"/>
            <a:chOff x="0" y="0"/>
            <a:chExt cx="914400" cy="914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91852" y="4663440"/>
            <a:ext cx="7003390" cy="1165860"/>
            <a:chOff x="0" y="0"/>
            <a:chExt cx="9337853" cy="15544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337852" cy="1554480"/>
            </a:xfrm>
            <a:custGeom>
              <a:avLst/>
              <a:gdLst/>
              <a:ahLst/>
              <a:cxnLst/>
              <a:rect l="l" t="t" r="r" b="b"/>
              <a:pathLst>
                <a:path w="9337852" h="1554480">
                  <a:moveTo>
                    <a:pt x="0" y="0"/>
                  </a:moveTo>
                  <a:lnTo>
                    <a:pt x="9337852" y="0"/>
                  </a:lnTo>
                  <a:lnTo>
                    <a:pt x="933785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47" b="-670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9337853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C26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 stockout and near-expiry risk</a:t>
              </a:r>
              <a:r>
                <a:rPr lang="en-US" sz="1950">
                  <a:solidFill>
                    <a:srgbClr val="4A55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achieving at least 85% recall for near-expiry risk and cutting promo stockouts on fresh products by 25–30% (from a baseline of 8–12%)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557412" y="6103620"/>
            <a:ext cx="8512150" cy="1440180"/>
            <a:chOff x="0" y="0"/>
            <a:chExt cx="11349533" cy="19202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349609" cy="1920240"/>
            </a:xfrm>
            <a:custGeom>
              <a:avLst/>
              <a:gdLst/>
              <a:ahLst/>
              <a:cxnLst/>
              <a:rect l="l" t="t" r="r" b="b"/>
              <a:pathLst>
                <a:path w="11349609" h="192024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1195939" y="0"/>
                  </a:lnTo>
                  <a:cubicBezTo>
                    <a:pt x="11280775" y="0"/>
                    <a:pt x="11349609" y="68834"/>
                    <a:pt x="11349609" y="153670"/>
                  </a:cubicBezTo>
                  <a:lnTo>
                    <a:pt x="11349609" y="1766570"/>
                  </a:lnTo>
                  <a:cubicBezTo>
                    <a:pt x="11349609" y="1851406"/>
                    <a:pt x="11280775" y="1920240"/>
                    <a:pt x="11195939" y="1920240"/>
                  </a:cubicBezTo>
                  <a:lnTo>
                    <a:pt x="153670" y="1920240"/>
                  </a:lnTo>
                  <a:cubicBezTo>
                    <a:pt x="68834" y="1920240"/>
                    <a:pt x="0" y="1851406"/>
                    <a:pt x="0" y="1766570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831732" y="6480810"/>
            <a:ext cx="685800" cy="685800"/>
            <a:chOff x="0" y="0"/>
            <a:chExt cx="914400" cy="914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6E8C7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831732" y="6480810"/>
            <a:ext cx="685800" cy="685800"/>
            <a:chOff x="0" y="0"/>
            <a:chExt cx="91440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791852" y="6240780"/>
            <a:ext cx="7003390" cy="1165860"/>
            <a:chOff x="0" y="0"/>
            <a:chExt cx="9337853" cy="15544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337852" cy="1554480"/>
            </a:xfrm>
            <a:custGeom>
              <a:avLst/>
              <a:gdLst/>
              <a:ahLst/>
              <a:cxnLst/>
              <a:rect l="l" t="t" r="r" b="b"/>
              <a:pathLst>
                <a:path w="9337852" h="1554480">
                  <a:moveTo>
                    <a:pt x="0" y="0"/>
                  </a:moveTo>
                  <a:lnTo>
                    <a:pt x="9337852" y="0"/>
                  </a:lnTo>
                  <a:lnTo>
                    <a:pt x="933785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47" b="-670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9337853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C26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Optimize DC/store replenishment and allocation</a:t>
              </a:r>
              <a:r>
                <a:rPr lang="en-US" sz="1950">
                  <a:solidFill>
                    <a:srgbClr val="4A55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under shelf-life constraints, improving on-shelf availability by 3–5 percentage points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57412" y="7680960"/>
            <a:ext cx="8512150" cy="1440180"/>
            <a:chOff x="0" y="0"/>
            <a:chExt cx="11349533" cy="19202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349609" cy="1920240"/>
            </a:xfrm>
            <a:custGeom>
              <a:avLst/>
              <a:gdLst/>
              <a:ahLst/>
              <a:cxnLst/>
              <a:rect l="l" t="t" r="r" b="b"/>
              <a:pathLst>
                <a:path w="11349609" h="192024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1195939" y="0"/>
                  </a:lnTo>
                  <a:cubicBezTo>
                    <a:pt x="11280775" y="0"/>
                    <a:pt x="11349609" y="68834"/>
                    <a:pt x="11349609" y="153670"/>
                  </a:cubicBezTo>
                  <a:lnTo>
                    <a:pt x="11349609" y="1766570"/>
                  </a:lnTo>
                  <a:cubicBezTo>
                    <a:pt x="11349609" y="1851406"/>
                    <a:pt x="11280775" y="1920240"/>
                    <a:pt x="11195939" y="1920240"/>
                  </a:cubicBezTo>
                  <a:lnTo>
                    <a:pt x="153670" y="1920240"/>
                  </a:lnTo>
                  <a:cubicBezTo>
                    <a:pt x="68834" y="1920240"/>
                    <a:pt x="0" y="1851406"/>
                    <a:pt x="0" y="1766570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31732" y="8058150"/>
            <a:ext cx="685800" cy="685800"/>
            <a:chOff x="0" y="0"/>
            <a:chExt cx="91440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B3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831732" y="8058150"/>
            <a:ext cx="685800" cy="685800"/>
            <a:chOff x="0" y="0"/>
            <a:chExt cx="914400" cy="914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791852" y="7818120"/>
            <a:ext cx="7003390" cy="1165860"/>
            <a:chOff x="0" y="0"/>
            <a:chExt cx="9337853" cy="15544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337852" cy="1554480"/>
            </a:xfrm>
            <a:custGeom>
              <a:avLst/>
              <a:gdLst/>
              <a:ahLst/>
              <a:cxnLst/>
              <a:rect l="l" t="t" r="r" b="b"/>
              <a:pathLst>
                <a:path w="9337852" h="1554480">
                  <a:moveTo>
                    <a:pt x="0" y="0"/>
                  </a:moveTo>
                  <a:lnTo>
                    <a:pt x="9337852" y="0"/>
                  </a:lnTo>
                  <a:lnTo>
                    <a:pt x="933785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047" b="-670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9337853" cy="1602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C262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Quantify lost sales, markdown, expiry waste and working-capital improvement</a:t>
              </a:r>
              <a:r>
                <a:rPr lang="en-US" sz="1950">
                  <a:solidFill>
                    <a:srgbClr val="4A55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, cutting fresh stock going to markdown or expiry by 20–25% (from a baseline of 5–8%)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6733520" y="9504045"/>
            <a:ext cx="3429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63672" y="9573768"/>
            <a:ext cx="987552" cy="288036"/>
            <a:chOff x="0" y="0"/>
            <a:chExt cx="1316736" cy="384048"/>
          </a:xfrm>
        </p:grpSpPr>
        <p:sp>
          <p:nvSpPr>
            <p:cNvPr id="3" name="Freeform 3" descr="/tmp/claude-0/-home-claude/53688bc9-27e3-5686-afed-955967f8a57a/scratchpad/imgs/panda_dark.png"/>
            <p:cNvSpPr/>
            <p:nvPr/>
          </p:nvSpPr>
          <p:spPr>
            <a:xfrm>
              <a:off x="0" y="0"/>
              <a:ext cx="1316736" cy="384048"/>
            </a:xfrm>
            <a:custGeom>
              <a:avLst/>
              <a:gdLst/>
              <a:ahLst/>
              <a:cxnLst/>
              <a:rect l="l" t="t" r="r" b="b"/>
              <a:pathLst>
                <a:path w="1316736" h="384048">
                  <a:moveTo>
                    <a:pt x="0" y="0"/>
                  </a:moveTo>
                  <a:lnTo>
                    <a:pt x="1316736" y="0"/>
                  </a:lnTo>
                  <a:lnTo>
                    <a:pt x="1316736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" b="-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19352" y="812292"/>
            <a:ext cx="1585021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450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AT A GLANCE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352" y="1322070"/>
            <a:ext cx="15850210" cy="128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4200">
                <a:solidFill>
                  <a:srgbClr val="1F4A30"/>
                </a:solidFill>
                <a:latin typeface="Cambria"/>
                <a:ea typeface="Cambria"/>
                <a:cs typeface="Cambria"/>
                <a:sym typeface="Cambria"/>
              </a:rPr>
              <a:t>Two years of Panda fresh-food data: big enough and clean enough to build 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2209" y="2941796"/>
            <a:ext cx="3801961" cy="2140267"/>
            <a:chOff x="0" y="0"/>
            <a:chExt cx="5069281" cy="2853690"/>
          </a:xfrm>
        </p:grpSpPr>
        <p:sp>
          <p:nvSpPr>
            <p:cNvPr id="7" name="Freeform 7"/>
            <p:cNvSpPr/>
            <p:nvPr/>
          </p:nvSpPr>
          <p:spPr>
            <a:xfrm>
              <a:off x="9525" y="9525"/>
              <a:ext cx="5050282" cy="2834640"/>
            </a:xfrm>
            <a:custGeom>
              <a:avLst/>
              <a:gdLst/>
              <a:ahLst/>
              <a:cxnLst/>
              <a:rect l="l" t="t" r="r" b="b"/>
              <a:pathLst>
                <a:path w="5050282" h="2834640">
                  <a:moveTo>
                    <a:pt x="0" y="219456"/>
                  </a:moveTo>
                  <a:cubicBezTo>
                    <a:pt x="0" y="98298"/>
                    <a:pt x="98552" y="0"/>
                    <a:pt x="220091" y="0"/>
                  </a:cubicBezTo>
                  <a:lnTo>
                    <a:pt x="4830191" y="0"/>
                  </a:lnTo>
                  <a:cubicBezTo>
                    <a:pt x="4951730" y="0"/>
                    <a:pt x="5050282" y="98298"/>
                    <a:pt x="5050282" y="219456"/>
                  </a:cubicBezTo>
                  <a:lnTo>
                    <a:pt x="5050282" y="2615184"/>
                  </a:lnTo>
                  <a:cubicBezTo>
                    <a:pt x="5050282" y="2736342"/>
                    <a:pt x="4951730" y="2834640"/>
                    <a:pt x="4830191" y="2834640"/>
                  </a:cubicBezTo>
                  <a:lnTo>
                    <a:pt x="220091" y="2834640"/>
                  </a:lnTo>
                  <a:cubicBezTo>
                    <a:pt x="98552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5069332" cy="2853690"/>
            </a:xfrm>
            <a:custGeom>
              <a:avLst/>
              <a:gdLst/>
              <a:ahLst/>
              <a:cxnLst/>
              <a:rect l="l" t="t" r="r" b="b"/>
              <a:pathLst>
                <a:path w="5069332" h="2853690">
                  <a:moveTo>
                    <a:pt x="0" y="228981"/>
                  </a:moveTo>
                  <a:cubicBezTo>
                    <a:pt x="0" y="102489"/>
                    <a:pt x="102870" y="0"/>
                    <a:pt x="229616" y="0"/>
                  </a:cubicBezTo>
                  <a:lnTo>
                    <a:pt x="4839716" y="0"/>
                  </a:lnTo>
                  <a:lnTo>
                    <a:pt x="4839716" y="9525"/>
                  </a:lnTo>
                  <a:lnTo>
                    <a:pt x="4839716" y="0"/>
                  </a:lnTo>
                  <a:cubicBezTo>
                    <a:pt x="4966462" y="0"/>
                    <a:pt x="5069332" y="102489"/>
                    <a:pt x="5069332" y="228981"/>
                  </a:cubicBezTo>
                  <a:lnTo>
                    <a:pt x="5059807" y="228981"/>
                  </a:lnTo>
                  <a:lnTo>
                    <a:pt x="5069332" y="228981"/>
                  </a:lnTo>
                  <a:lnTo>
                    <a:pt x="5069332" y="2624709"/>
                  </a:lnTo>
                  <a:lnTo>
                    <a:pt x="5059807" y="2624709"/>
                  </a:lnTo>
                  <a:lnTo>
                    <a:pt x="5069332" y="2624709"/>
                  </a:lnTo>
                  <a:cubicBezTo>
                    <a:pt x="5069332" y="2751201"/>
                    <a:pt x="4966462" y="2853690"/>
                    <a:pt x="4839716" y="2853690"/>
                  </a:cubicBezTo>
                  <a:lnTo>
                    <a:pt x="4839716" y="2844165"/>
                  </a:lnTo>
                  <a:lnTo>
                    <a:pt x="4839716" y="2853690"/>
                  </a:lnTo>
                  <a:lnTo>
                    <a:pt x="229616" y="2853690"/>
                  </a:lnTo>
                  <a:lnTo>
                    <a:pt x="229616" y="2844165"/>
                  </a:lnTo>
                  <a:lnTo>
                    <a:pt x="229616" y="2853690"/>
                  </a:lnTo>
                  <a:cubicBezTo>
                    <a:pt x="102870" y="2853690"/>
                    <a:pt x="0" y="2751201"/>
                    <a:pt x="0" y="2624709"/>
                  </a:cubicBezTo>
                  <a:lnTo>
                    <a:pt x="0" y="228981"/>
                  </a:lnTo>
                  <a:lnTo>
                    <a:pt x="9525" y="228981"/>
                  </a:lnTo>
                  <a:lnTo>
                    <a:pt x="0" y="228981"/>
                  </a:lnTo>
                  <a:moveTo>
                    <a:pt x="19050" y="228981"/>
                  </a:moveTo>
                  <a:lnTo>
                    <a:pt x="19050" y="2624709"/>
                  </a:lnTo>
                  <a:lnTo>
                    <a:pt x="9525" y="2624709"/>
                  </a:lnTo>
                  <a:lnTo>
                    <a:pt x="19050" y="2624709"/>
                  </a:lnTo>
                  <a:cubicBezTo>
                    <a:pt x="19050" y="2740660"/>
                    <a:pt x="113284" y="2834640"/>
                    <a:pt x="229616" y="2834640"/>
                  </a:cubicBezTo>
                  <a:lnTo>
                    <a:pt x="4839716" y="2834640"/>
                  </a:lnTo>
                  <a:cubicBezTo>
                    <a:pt x="4956048" y="2834640"/>
                    <a:pt x="5050282" y="2740660"/>
                    <a:pt x="5050282" y="2624709"/>
                  </a:cubicBezTo>
                  <a:lnTo>
                    <a:pt x="5050282" y="228981"/>
                  </a:lnTo>
                  <a:cubicBezTo>
                    <a:pt x="5050282" y="113030"/>
                    <a:pt x="4956048" y="19050"/>
                    <a:pt x="4839716" y="19050"/>
                  </a:cubicBezTo>
                  <a:lnTo>
                    <a:pt x="229616" y="19050"/>
                  </a:lnTo>
                  <a:lnTo>
                    <a:pt x="229616" y="9525"/>
                  </a:lnTo>
                  <a:lnTo>
                    <a:pt x="229616" y="19050"/>
                  </a:lnTo>
                  <a:cubicBezTo>
                    <a:pt x="113284" y="19050"/>
                    <a:pt x="19050" y="113030"/>
                    <a:pt x="19050" y="228981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62252" y="2992755"/>
            <a:ext cx="3239033" cy="12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2252" y="4231767"/>
            <a:ext cx="3239033" cy="66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inventory &amp; sales records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233054" y="2941796"/>
            <a:ext cx="3801961" cy="2140267"/>
            <a:chOff x="0" y="0"/>
            <a:chExt cx="5069281" cy="2853690"/>
          </a:xfrm>
        </p:grpSpPr>
        <p:sp>
          <p:nvSpPr>
            <p:cNvPr id="12" name="Freeform 12"/>
            <p:cNvSpPr/>
            <p:nvPr/>
          </p:nvSpPr>
          <p:spPr>
            <a:xfrm>
              <a:off x="9525" y="9525"/>
              <a:ext cx="5050282" cy="2834640"/>
            </a:xfrm>
            <a:custGeom>
              <a:avLst/>
              <a:gdLst/>
              <a:ahLst/>
              <a:cxnLst/>
              <a:rect l="l" t="t" r="r" b="b"/>
              <a:pathLst>
                <a:path w="5050282" h="2834640">
                  <a:moveTo>
                    <a:pt x="0" y="219456"/>
                  </a:moveTo>
                  <a:cubicBezTo>
                    <a:pt x="0" y="98298"/>
                    <a:pt x="98552" y="0"/>
                    <a:pt x="220091" y="0"/>
                  </a:cubicBezTo>
                  <a:lnTo>
                    <a:pt x="4830191" y="0"/>
                  </a:lnTo>
                  <a:cubicBezTo>
                    <a:pt x="4951730" y="0"/>
                    <a:pt x="5050282" y="98298"/>
                    <a:pt x="5050282" y="219456"/>
                  </a:cubicBezTo>
                  <a:lnTo>
                    <a:pt x="5050282" y="2615184"/>
                  </a:lnTo>
                  <a:cubicBezTo>
                    <a:pt x="5050282" y="2736342"/>
                    <a:pt x="4951730" y="2834640"/>
                    <a:pt x="4830191" y="2834640"/>
                  </a:cubicBezTo>
                  <a:lnTo>
                    <a:pt x="220091" y="2834640"/>
                  </a:lnTo>
                  <a:cubicBezTo>
                    <a:pt x="98552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5069332" cy="2853690"/>
            </a:xfrm>
            <a:custGeom>
              <a:avLst/>
              <a:gdLst/>
              <a:ahLst/>
              <a:cxnLst/>
              <a:rect l="l" t="t" r="r" b="b"/>
              <a:pathLst>
                <a:path w="5069332" h="2853690">
                  <a:moveTo>
                    <a:pt x="0" y="228981"/>
                  </a:moveTo>
                  <a:cubicBezTo>
                    <a:pt x="0" y="102489"/>
                    <a:pt x="102870" y="0"/>
                    <a:pt x="229616" y="0"/>
                  </a:cubicBezTo>
                  <a:lnTo>
                    <a:pt x="4839716" y="0"/>
                  </a:lnTo>
                  <a:lnTo>
                    <a:pt x="4839716" y="9525"/>
                  </a:lnTo>
                  <a:lnTo>
                    <a:pt x="4839716" y="0"/>
                  </a:lnTo>
                  <a:cubicBezTo>
                    <a:pt x="4966462" y="0"/>
                    <a:pt x="5069332" y="102489"/>
                    <a:pt x="5069332" y="228981"/>
                  </a:cubicBezTo>
                  <a:lnTo>
                    <a:pt x="5059807" y="228981"/>
                  </a:lnTo>
                  <a:lnTo>
                    <a:pt x="5069332" y="228981"/>
                  </a:lnTo>
                  <a:lnTo>
                    <a:pt x="5069332" y="2624709"/>
                  </a:lnTo>
                  <a:lnTo>
                    <a:pt x="5059807" y="2624709"/>
                  </a:lnTo>
                  <a:lnTo>
                    <a:pt x="5069332" y="2624709"/>
                  </a:lnTo>
                  <a:cubicBezTo>
                    <a:pt x="5069332" y="2751201"/>
                    <a:pt x="4966462" y="2853690"/>
                    <a:pt x="4839716" y="2853690"/>
                  </a:cubicBezTo>
                  <a:lnTo>
                    <a:pt x="4839716" y="2844165"/>
                  </a:lnTo>
                  <a:lnTo>
                    <a:pt x="4839716" y="2853690"/>
                  </a:lnTo>
                  <a:lnTo>
                    <a:pt x="229616" y="2853690"/>
                  </a:lnTo>
                  <a:lnTo>
                    <a:pt x="229616" y="2844165"/>
                  </a:lnTo>
                  <a:lnTo>
                    <a:pt x="229616" y="2853690"/>
                  </a:lnTo>
                  <a:cubicBezTo>
                    <a:pt x="102870" y="2853690"/>
                    <a:pt x="0" y="2751201"/>
                    <a:pt x="0" y="2624709"/>
                  </a:cubicBezTo>
                  <a:lnTo>
                    <a:pt x="0" y="228981"/>
                  </a:lnTo>
                  <a:lnTo>
                    <a:pt x="9525" y="228981"/>
                  </a:lnTo>
                  <a:lnTo>
                    <a:pt x="0" y="228981"/>
                  </a:lnTo>
                  <a:moveTo>
                    <a:pt x="19050" y="228981"/>
                  </a:moveTo>
                  <a:lnTo>
                    <a:pt x="19050" y="2624709"/>
                  </a:lnTo>
                  <a:lnTo>
                    <a:pt x="9525" y="2624709"/>
                  </a:lnTo>
                  <a:lnTo>
                    <a:pt x="19050" y="2624709"/>
                  </a:lnTo>
                  <a:cubicBezTo>
                    <a:pt x="19050" y="2740660"/>
                    <a:pt x="113284" y="2834640"/>
                    <a:pt x="229616" y="2834640"/>
                  </a:cubicBezTo>
                  <a:lnTo>
                    <a:pt x="4839716" y="2834640"/>
                  </a:lnTo>
                  <a:cubicBezTo>
                    <a:pt x="4956048" y="2834640"/>
                    <a:pt x="5050282" y="2740660"/>
                    <a:pt x="5050282" y="2624709"/>
                  </a:cubicBezTo>
                  <a:lnTo>
                    <a:pt x="5050282" y="228981"/>
                  </a:lnTo>
                  <a:cubicBezTo>
                    <a:pt x="5050282" y="113030"/>
                    <a:pt x="4956048" y="19050"/>
                    <a:pt x="4839716" y="19050"/>
                  </a:cubicBezTo>
                  <a:lnTo>
                    <a:pt x="229616" y="19050"/>
                  </a:lnTo>
                  <a:lnTo>
                    <a:pt x="229616" y="9525"/>
                  </a:lnTo>
                  <a:lnTo>
                    <a:pt x="229616" y="19050"/>
                  </a:lnTo>
                  <a:cubicBezTo>
                    <a:pt x="113284" y="19050"/>
                    <a:pt x="19050" y="113030"/>
                    <a:pt x="19050" y="228981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583098" y="2992755"/>
            <a:ext cx="3239033" cy="12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730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83098" y="4231767"/>
            <a:ext cx="3239033" cy="66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days · Jan 2025 – Dec 2026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53899" y="2941796"/>
            <a:ext cx="3801961" cy="2140267"/>
            <a:chOff x="0" y="0"/>
            <a:chExt cx="5069281" cy="2853690"/>
          </a:xfrm>
        </p:grpSpPr>
        <p:sp>
          <p:nvSpPr>
            <p:cNvPr id="17" name="Freeform 17"/>
            <p:cNvSpPr/>
            <p:nvPr/>
          </p:nvSpPr>
          <p:spPr>
            <a:xfrm>
              <a:off x="9525" y="9525"/>
              <a:ext cx="5050282" cy="2834640"/>
            </a:xfrm>
            <a:custGeom>
              <a:avLst/>
              <a:gdLst/>
              <a:ahLst/>
              <a:cxnLst/>
              <a:rect l="l" t="t" r="r" b="b"/>
              <a:pathLst>
                <a:path w="5050282" h="2834640">
                  <a:moveTo>
                    <a:pt x="0" y="219456"/>
                  </a:moveTo>
                  <a:cubicBezTo>
                    <a:pt x="0" y="98298"/>
                    <a:pt x="98552" y="0"/>
                    <a:pt x="220091" y="0"/>
                  </a:cubicBezTo>
                  <a:lnTo>
                    <a:pt x="4830191" y="0"/>
                  </a:lnTo>
                  <a:cubicBezTo>
                    <a:pt x="4951730" y="0"/>
                    <a:pt x="5050282" y="98298"/>
                    <a:pt x="5050282" y="219456"/>
                  </a:cubicBezTo>
                  <a:lnTo>
                    <a:pt x="5050282" y="2615184"/>
                  </a:lnTo>
                  <a:cubicBezTo>
                    <a:pt x="5050282" y="2736342"/>
                    <a:pt x="4951730" y="2834640"/>
                    <a:pt x="4830191" y="2834640"/>
                  </a:cubicBezTo>
                  <a:lnTo>
                    <a:pt x="220091" y="2834640"/>
                  </a:lnTo>
                  <a:cubicBezTo>
                    <a:pt x="98552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5069332" cy="2853690"/>
            </a:xfrm>
            <a:custGeom>
              <a:avLst/>
              <a:gdLst/>
              <a:ahLst/>
              <a:cxnLst/>
              <a:rect l="l" t="t" r="r" b="b"/>
              <a:pathLst>
                <a:path w="5069332" h="2853690">
                  <a:moveTo>
                    <a:pt x="0" y="228981"/>
                  </a:moveTo>
                  <a:cubicBezTo>
                    <a:pt x="0" y="102489"/>
                    <a:pt x="102870" y="0"/>
                    <a:pt x="229616" y="0"/>
                  </a:cubicBezTo>
                  <a:lnTo>
                    <a:pt x="4839716" y="0"/>
                  </a:lnTo>
                  <a:lnTo>
                    <a:pt x="4839716" y="9525"/>
                  </a:lnTo>
                  <a:lnTo>
                    <a:pt x="4839716" y="0"/>
                  </a:lnTo>
                  <a:cubicBezTo>
                    <a:pt x="4966462" y="0"/>
                    <a:pt x="5069332" y="102489"/>
                    <a:pt x="5069332" y="228981"/>
                  </a:cubicBezTo>
                  <a:lnTo>
                    <a:pt x="5059807" y="228981"/>
                  </a:lnTo>
                  <a:lnTo>
                    <a:pt x="5069332" y="228981"/>
                  </a:lnTo>
                  <a:lnTo>
                    <a:pt x="5069332" y="2624709"/>
                  </a:lnTo>
                  <a:lnTo>
                    <a:pt x="5059807" y="2624709"/>
                  </a:lnTo>
                  <a:lnTo>
                    <a:pt x="5069332" y="2624709"/>
                  </a:lnTo>
                  <a:cubicBezTo>
                    <a:pt x="5069332" y="2751201"/>
                    <a:pt x="4966462" y="2853690"/>
                    <a:pt x="4839716" y="2853690"/>
                  </a:cubicBezTo>
                  <a:lnTo>
                    <a:pt x="4839716" y="2844165"/>
                  </a:lnTo>
                  <a:lnTo>
                    <a:pt x="4839716" y="2853690"/>
                  </a:lnTo>
                  <a:lnTo>
                    <a:pt x="229616" y="2853690"/>
                  </a:lnTo>
                  <a:lnTo>
                    <a:pt x="229616" y="2844165"/>
                  </a:lnTo>
                  <a:lnTo>
                    <a:pt x="229616" y="2853690"/>
                  </a:lnTo>
                  <a:cubicBezTo>
                    <a:pt x="102870" y="2853690"/>
                    <a:pt x="0" y="2751201"/>
                    <a:pt x="0" y="2624709"/>
                  </a:cubicBezTo>
                  <a:lnTo>
                    <a:pt x="0" y="228981"/>
                  </a:lnTo>
                  <a:lnTo>
                    <a:pt x="9525" y="228981"/>
                  </a:lnTo>
                  <a:lnTo>
                    <a:pt x="0" y="228981"/>
                  </a:lnTo>
                  <a:moveTo>
                    <a:pt x="19050" y="228981"/>
                  </a:moveTo>
                  <a:lnTo>
                    <a:pt x="19050" y="2624709"/>
                  </a:lnTo>
                  <a:lnTo>
                    <a:pt x="9525" y="2624709"/>
                  </a:lnTo>
                  <a:lnTo>
                    <a:pt x="19050" y="2624709"/>
                  </a:lnTo>
                  <a:cubicBezTo>
                    <a:pt x="19050" y="2740660"/>
                    <a:pt x="113284" y="2834640"/>
                    <a:pt x="229616" y="2834640"/>
                  </a:cubicBezTo>
                  <a:lnTo>
                    <a:pt x="4839716" y="2834640"/>
                  </a:lnTo>
                  <a:cubicBezTo>
                    <a:pt x="4956048" y="2834640"/>
                    <a:pt x="5050282" y="2740660"/>
                    <a:pt x="5050282" y="2624709"/>
                  </a:cubicBezTo>
                  <a:lnTo>
                    <a:pt x="5050282" y="228981"/>
                  </a:lnTo>
                  <a:cubicBezTo>
                    <a:pt x="5050282" y="113030"/>
                    <a:pt x="4956048" y="19050"/>
                    <a:pt x="4839716" y="19050"/>
                  </a:cubicBezTo>
                  <a:lnTo>
                    <a:pt x="229616" y="19050"/>
                  </a:lnTo>
                  <a:lnTo>
                    <a:pt x="229616" y="9525"/>
                  </a:lnTo>
                  <a:lnTo>
                    <a:pt x="229616" y="19050"/>
                  </a:lnTo>
                  <a:cubicBezTo>
                    <a:pt x="113284" y="19050"/>
                    <a:pt x="19050" y="113030"/>
                    <a:pt x="19050" y="228981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603943" y="2992755"/>
            <a:ext cx="3239033" cy="12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1,000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03943" y="4231767"/>
            <a:ext cx="3239033" cy="66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stores · 30 distribution centres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274745" y="2941796"/>
            <a:ext cx="3801961" cy="2140267"/>
            <a:chOff x="0" y="0"/>
            <a:chExt cx="5069281" cy="2853690"/>
          </a:xfrm>
        </p:grpSpPr>
        <p:sp>
          <p:nvSpPr>
            <p:cNvPr id="22" name="Freeform 22"/>
            <p:cNvSpPr/>
            <p:nvPr/>
          </p:nvSpPr>
          <p:spPr>
            <a:xfrm>
              <a:off x="9525" y="9525"/>
              <a:ext cx="5050282" cy="2834640"/>
            </a:xfrm>
            <a:custGeom>
              <a:avLst/>
              <a:gdLst/>
              <a:ahLst/>
              <a:cxnLst/>
              <a:rect l="l" t="t" r="r" b="b"/>
              <a:pathLst>
                <a:path w="5050282" h="2834640">
                  <a:moveTo>
                    <a:pt x="0" y="219456"/>
                  </a:moveTo>
                  <a:cubicBezTo>
                    <a:pt x="0" y="98298"/>
                    <a:pt x="98552" y="0"/>
                    <a:pt x="220091" y="0"/>
                  </a:cubicBezTo>
                  <a:lnTo>
                    <a:pt x="4830191" y="0"/>
                  </a:lnTo>
                  <a:cubicBezTo>
                    <a:pt x="4951730" y="0"/>
                    <a:pt x="5050282" y="98298"/>
                    <a:pt x="5050282" y="219456"/>
                  </a:cubicBezTo>
                  <a:lnTo>
                    <a:pt x="5050282" y="2615184"/>
                  </a:lnTo>
                  <a:cubicBezTo>
                    <a:pt x="5050282" y="2736342"/>
                    <a:pt x="4951730" y="2834640"/>
                    <a:pt x="4830191" y="2834640"/>
                  </a:cubicBezTo>
                  <a:lnTo>
                    <a:pt x="220091" y="2834640"/>
                  </a:lnTo>
                  <a:cubicBezTo>
                    <a:pt x="98552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2F5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5069332" cy="2853690"/>
            </a:xfrm>
            <a:custGeom>
              <a:avLst/>
              <a:gdLst/>
              <a:ahLst/>
              <a:cxnLst/>
              <a:rect l="l" t="t" r="r" b="b"/>
              <a:pathLst>
                <a:path w="5069332" h="2853690">
                  <a:moveTo>
                    <a:pt x="0" y="228981"/>
                  </a:moveTo>
                  <a:cubicBezTo>
                    <a:pt x="0" y="102489"/>
                    <a:pt x="102870" y="0"/>
                    <a:pt x="229616" y="0"/>
                  </a:cubicBezTo>
                  <a:lnTo>
                    <a:pt x="4839716" y="0"/>
                  </a:lnTo>
                  <a:lnTo>
                    <a:pt x="4839716" y="9525"/>
                  </a:lnTo>
                  <a:lnTo>
                    <a:pt x="4839716" y="0"/>
                  </a:lnTo>
                  <a:cubicBezTo>
                    <a:pt x="4966462" y="0"/>
                    <a:pt x="5069332" y="102489"/>
                    <a:pt x="5069332" y="228981"/>
                  </a:cubicBezTo>
                  <a:lnTo>
                    <a:pt x="5059807" y="228981"/>
                  </a:lnTo>
                  <a:lnTo>
                    <a:pt x="5069332" y="228981"/>
                  </a:lnTo>
                  <a:lnTo>
                    <a:pt x="5069332" y="2624709"/>
                  </a:lnTo>
                  <a:lnTo>
                    <a:pt x="5059807" y="2624709"/>
                  </a:lnTo>
                  <a:lnTo>
                    <a:pt x="5069332" y="2624709"/>
                  </a:lnTo>
                  <a:cubicBezTo>
                    <a:pt x="5069332" y="2751201"/>
                    <a:pt x="4966462" y="2853690"/>
                    <a:pt x="4839716" y="2853690"/>
                  </a:cubicBezTo>
                  <a:lnTo>
                    <a:pt x="4839716" y="2844165"/>
                  </a:lnTo>
                  <a:lnTo>
                    <a:pt x="4839716" y="2853690"/>
                  </a:lnTo>
                  <a:lnTo>
                    <a:pt x="229616" y="2853690"/>
                  </a:lnTo>
                  <a:lnTo>
                    <a:pt x="229616" y="2844165"/>
                  </a:lnTo>
                  <a:lnTo>
                    <a:pt x="229616" y="2853690"/>
                  </a:lnTo>
                  <a:cubicBezTo>
                    <a:pt x="102870" y="2853690"/>
                    <a:pt x="0" y="2751201"/>
                    <a:pt x="0" y="2624709"/>
                  </a:cubicBezTo>
                  <a:lnTo>
                    <a:pt x="0" y="228981"/>
                  </a:lnTo>
                  <a:lnTo>
                    <a:pt x="9525" y="228981"/>
                  </a:lnTo>
                  <a:lnTo>
                    <a:pt x="0" y="228981"/>
                  </a:lnTo>
                  <a:moveTo>
                    <a:pt x="19050" y="228981"/>
                  </a:moveTo>
                  <a:lnTo>
                    <a:pt x="19050" y="2624709"/>
                  </a:lnTo>
                  <a:lnTo>
                    <a:pt x="9525" y="2624709"/>
                  </a:lnTo>
                  <a:lnTo>
                    <a:pt x="19050" y="2624709"/>
                  </a:lnTo>
                  <a:cubicBezTo>
                    <a:pt x="19050" y="2740660"/>
                    <a:pt x="113284" y="2834640"/>
                    <a:pt x="229616" y="2834640"/>
                  </a:cubicBezTo>
                  <a:lnTo>
                    <a:pt x="4839716" y="2834640"/>
                  </a:lnTo>
                  <a:cubicBezTo>
                    <a:pt x="4956048" y="2834640"/>
                    <a:pt x="5050282" y="2740660"/>
                    <a:pt x="5050282" y="2624709"/>
                  </a:cubicBezTo>
                  <a:lnTo>
                    <a:pt x="5050282" y="228981"/>
                  </a:lnTo>
                  <a:cubicBezTo>
                    <a:pt x="5050282" y="113030"/>
                    <a:pt x="4956048" y="19050"/>
                    <a:pt x="4839716" y="19050"/>
                  </a:cubicBezTo>
                  <a:lnTo>
                    <a:pt x="229616" y="19050"/>
                  </a:lnTo>
                  <a:lnTo>
                    <a:pt x="229616" y="9525"/>
                  </a:lnTo>
                  <a:lnTo>
                    <a:pt x="229616" y="19050"/>
                  </a:lnTo>
                  <a:cubicBezTo>
                    <a:pt x="113284" y="19050"/>
                    <a:pt x="19050" y="113030"/>
                    <a:pt x="19050" y="228981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624789" y="2992755"/>
            <a:ext cx="3239033" cy="12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150K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24789" y="4231767"/>
            <a:ext cx="3239033" cy="66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products (SKUs) · 12,000 suppliers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19352" y="5417820"/>
            <a:ext cx="15850210" cy="1440180"/>
            <a:chOff x="0" y="0"/>
            <a:chExt cx="21133613" cy="19202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133563" cy="1920240"/>
            </a:xfrm>
            <a:custGeom>
              <a:avLst/>
              <a:gdLst/>
              <a:ahLst/>
              <a:cxnLst/>
              <a:rect l="l" t="t" r="r" b="b"/>
              <a:pathLst>
                <a:path w="21133563" h="19202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0914106" y="0"/>
                  </a:lnTo>
                  <a:cubicBezTo>
                    <a:pt x="21035265" y="0"/>
                    <a:pt x="21133563" y="98298"/>
                    <a:pt x="21133563" y="219456"/>
                  </a:cubicBezTo>
                  <a:lnTo>
                    <a:pt x="21133563" y="1700784"/>
                  </a:lnTo>
                  <a:cubicBezTo>
                    <a:pt x="21133563" y="1821942"/>
                    <a:pt x="21035265" y="1920240"/>
                    <a:pt x="20914106" y="1920240"/>
                  </a:cubicBezTo>
                  <a:lnTo>
                    <a:pt x="219456" y="1920240"/>
                  </a:lnTo>
                  <a:cubicBezTo>
                    <a:pt x="98298" y="1920240"/>
                    <a:pt x="0" y="1821942"/>
                    <a:pt x="0" y="1700784"/>
                  </a:cubicBezTo>
                  <a:close/>
                </a:path>
              </a:pathLst>
            </a:custGeom>
            <a:solidFill>
              <a:srgbClr val="1F4A3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30832" y="5519928"/>
            <a:ext cx="341391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83.8%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30832" y="6234303"/>
            <a:ext cx="3413912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5E2D8"/>
                </a:solidFill>
                <a:latin typeface="Calibri (MS)"/>
                <a:ea typeface="Calibri (MS)"/>
                <a:cs typeface="Calibri (MS)"/>
                <a:sym typeface="Calibri (MS)"/>
              </a:rPr>
              <a:t>records fully complete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93385" y="5519928"/>
            <a:ext cx="341391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93385" y="6234303"/>
            <a:ext cx="3413912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5E2D8"/>
                </a:solidFill>
                <a:latin typeface="Calibri (MS)"/>
                <a:ea typeface="Calibri (MS)"/>
                <a:cs typeface="Calibri (MS)"/>
                <a:sym typeface="Calibri (MS)"/>
              </a:rPr>
              <a:t>duplicate rows or IDs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5937" y="5519928"/>
            <a:ext cx="341391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55937" y="6234303"/>
            <a:ext cx="3413912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5E2D8"/>
                </a:solidFill>
                <a:latin typeface="Calibri (MS)"/>
                <a:ea typeface="Calibri (MS)"/>
                <a:cs typeface="Calibri (MS)"/>
                <a:sym typeface="Calibri (MS)"/>
              </a:rPr>
              <a:t>invalid dates or flags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518490" y="5519928"/>
            <a:ext cx="341391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of 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518490" y="6234303"/>
            <a:ext cx="3413912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D5E2D8"/>
                </a:solidFill>
                <a:latin typeface="Calibri (MS)"/>
                <a:ea typeface="Calibri (MS)"/>
                <a:cs typeface="Calibri (MS)"/>
                <a:sym typeface="Calibri (MS)"/>
              </a:rPr>
              <a:t>columns with gaps (4–8%)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219352" y="7269480"/>
            <a:ext cx="15850210" cy="1440180"/>
            <a:chOff x="0" y="0"/>
            <a:chExt cx="21133613" cy="19202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133563" cy="1920240"/>
            </a:xfrm>
            <a:custGeom>
              <a:avLst/>
              <a:gdLst/>
              <a:ahLst/>
              <a:cxnLst/>
              <a:rect l="l" t="t" r="r" b="b"/>
              <a:pathLst>
                <a:path w="21133563" h="1920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0950682" y="0"/>
                  </a:lnTo>
                  <a:cubicBezTo>
                    <a:pt x="21051647" y="0"/>
                    <a:pt x="21133563" y="81915"/>
                    <a:pt x="21133563" y="182880"/>
                  </a:cubicBezTo>
                  <a:lnTo>
                    <a:pt x="21133563" y="1737360"/>
                  </a:lnTo>
                  <a:cubicBezTo>
                    <a:pt x="21133563" y="1838325"/>
                    <a:pt x="21051647" y="1920240"/>
                    <a:pt x="20950682" y="1920240"/>
                  </a:cubicBezTo>
                  <a:lnTo>
                    <a:pt x="182880" y="1920240"/>
                  </a:lnTo>
                  <a:cubicBezTo>
                    <a:pt x="81915" y="1920240"/>
                    <a:pt x="0" y="1838325"/>
                    <a:pt x="0" y="1737360"/>
                  </a:cubicBezTo>
                  <a:close/>
                </a:path>
              </a:pathLst>
            </a:custGeom>
            <a:solidFill>
              <a:srgbClr val="E6ED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62252" y="7269480"/>
            <a:ext cx="2606040" cy="1440180"/>
            <a:chOff x="0" y="0"/>
            <a:chExt cx="3474720" cy="19202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74720" cy="1920240"/>
            </a:xfrm>
            <a:custGeom>
              <a:avLst/>
              <a:gdLst/>
              <a:ahLst/>
              <a:cxnLst/>
              <a:rect l="l" t="t" r="r" b="b"/>
              <a:pathLst>
                <a:path w="3474720" h="1920240">
                  <a:moveTo>
                    <a:pt x="0" y="0"/>
                  </a:moveTo>
                  <a:lnTo>
                    <a:pt x="3474720" y="0"/>
                  </a:lnTo>
                  <a:lnTo>
                    <a:pt x="34747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904" r="-209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474720" cy="1958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C241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 WHAT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68292" y="7269480"/>
            <a:ext cx="12558370" cy="1440180"/>
            <a:chOff x="0" y="0"/>
            <a:chExt cx="16744493" cy="19202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744493" cy="1920240"/>
            </a:xfrm>
            <a:custGeom>
              <a:avLst/>
              <a:gdLst/>
              <a:ahLst/>
              <a:cxnLst/>
              <a:rect l="l" t="t" r="r" b="b"/>
              <a:pathLst>
                <a:path w="16744493" h="1920240">
                  <a:moveTo>
                    <a:pt x="0" y="0"/>
                  </a:moveTo>
                  <a:lnTo>
                    <a:pt x="16744493" y="0"/>
                  </a:lnTo>
                  <a:lnTo>
                    <a:pt x="16744493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9909" b="-1199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16744493" cy="1977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C26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data covers every store and two full years, so the patterns on the next slide are reliable. The few gaps are small and are fixed in Phase 3 before any model is built.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6733520" y="9504045"/>
            <a:ext cx="3429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63672" y="9573768"/>
            <a:ext cx="987552" cy="288036"/>
            <a:chOff x="0" y="0"/>
            <a:chExt cx="1316736" cy="384048"/>
          </a:xfrm>
        </p:grpSpPr>
        <p:sp>
          <p:nvSpPr>
            <p:cNvPr id="3" name="Freeform 3" descr="/tmp/claude-0/-home-claude/53688bc9-27e3-5686-afed-955967f8a57a/scratchpad/imgs/panda_dark.png"/>
            <p:cNvSpPr/>
            <p:nvPr/>
          </p:nvSpPr>
          <p:spPr>
            <a:xfrm>
              <a:off x="0" y="0"/>
              <a:ext cx="1316736" cy="384048"/>
            </a:xfrm>
            <a:custGeom>
              <a:avLst/>
              <a:gdLst/>
              <a:ahLst/>
              <a:cxnLst/>
              <a:rect l="l" t="t" r="r" b="b"/>
              <a:pathLst>
                <a:path w="1316736" h="384048">
                  <a:moveTo>
                    <a:pt x="0" y="0"/>
                  </a:moveTo>
                  <a:lnTo>
                    <a:pt x="1316736" y="0"/>
                  </a:lnTo>
                  <a:lnTo>
                    <a:pt x="1316736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" b="-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19352" y="812292"/>
            <a:ext cx="1585021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450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DESCRIPTIVE QUESTION · DQ4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352" y="1322070"/>
            <a:ext cx="15850210" cy="128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4200">
                <a:solidFill>
                  <a:srgbClr val="1F4A30"/>
                </a:solidFill>
                <a:latin typeface="Cambria"/>
                <a:ea typeface="Cambria"/>
                <a:cs typeface="Cambria"/>
                <a:sym typeface="Cambria"/>
              </a:rPr>
              <a:t>Remaining Shelf Life and Near-Expiry Share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2209" y="2393156"/>
            <a:ext cx="10438448" cy="4746308"/>
            <a:chOff x="0" y="0"/>
            <a:chExt cx="13917930" cy="6328410"/>
          </a:xfrm>
        </p:grpSpPr>
        <p:sp>
          <p:nvSpPr>
            <p:cNvPr id="7" name="Freeform 7"/>
            <p:cNvSpPr/>
            <p:nvPr/>
          </p:nvSpPr>
          <p:spPr>
            <a:xfrm>
              <a:off x="9525" y="9525"/>
              <a:ext cx="13898880" cy="6309360"/>
            </a:xfrm>
            <a:custGeom>
              <a:avLst/>
              <a:gdLst/>
              <a:ahLst/>
              <a:cxnLst/>
              <a:rect l="l" t="t" r="r" b="b"/>
              <a:pathLst>
                <a:path w="13898880" h="6309360">
                  <a:moveTo>
                    <a:pt x="0" y="207391"/>
                  </a:moveTo>
                  <a:cubicBezTo>
                    <a:pt x="0" y="92837"/>
                    <a:pt x="93091" y="0"/>
                    <a:pt x="207772" y="0"/>
                  </a:cubicBezTo>
                  <a:lnTo>
                    <a:pt x="13691108" y="0"/>
                  </a:lnTo>
                  <a:cubicBezTo>
                    <a:pt x="13805917" y="0"/>
                    <a:pt x="13898880" y="92837"/>
                    <a:pt x="13898880" y="207391"/>
                  </a:cubicBezTo>
                  <a:lnTo>
                    <a:pt x="13898880" y="6101969"/>
                  </a:lnTo>
                  <a:cubicBezTo>
                    <a:pt x="13898880" y="6216523"/>
                    <a:pt x="13805790" y="6309360"/>
                    <a:pt x="13691108" y="6309360"/>
                  </a:cubicBezTo>
                  <a:lnTo>
                    <a:pt x="207772" y="6309360"/>
                  </a:lnTo>
                  <a:cubicBezTo>
                    <a:pt x="92964" y="6309360"/>
                    <a:pt x="0" y="6216523"/>
                    <a:pt x="0" y="61019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3917930" cy="6328410"/>
            </a:xfrm>
            <a:custGeom>
              <a:avLst/>
              <a:gdLst/>
              <a:ahLst/>
              <a:cxnLst/>
              <a:rect l="l" t="t" r="r" b="b"/>
              <a:pathLst>
                <a:path w="13917930" h="6328410">
                  <a:moveTo>
                    <a:pt x="0" y="216916"/>
                  </a:moveTo>
                  <a:cubicBezTo>
                    <a:pt x="0" y="97155"/>
                    <a:pt x="97282" y="0"/>
                    <a:pt x="217297" y="0"/>
                  </a:cubicBezTo>
                  <a:lnTo>
                    <a:pt x="13700633" y="0"/>
                  </a:lnTo>
                  <a:lnTo>
                    <a:pt x="13700633" y="9525"/>
                  </a:lnTo>
                  <a:lnTo>
                    <a:pt x="13700633" y="0"/>
                  </a:lnTo>
                  <a:cubicBezTo>
                    <a:pt x="13820648" y="0"/>
                    <a:pt x="13917930" y="97155"/>
                    <a:pt x="13917930" y="216916"/>
                  </a:cubicBezTo>
                  <a:lnTo>
                    <a:pt x="13908405" y="216916"/>
                  </a:lnTo>
                  <a:lnTo>
                    <a:pt x="13917930" y="216916"/>
                  </a:lnTo>
                  <a:lnTo>
                    <a:pt x="13917930" y="6111494"/>
                  </a:lnTo>
                  <a:lnTo>
                    <a:pt x="13908405" y="6111494"/>
                  </a:lnTo>
                  <a:lnTo>
                    <a:pt x="13917930" y="6111494"/>
                  </a:lnTo>
                  <a:cubicBezTo>
                    <a:pt x="13917930" y="6231382"/>
                    <a:pt x="13820648" y="6328410"/>
                    <a:pt x="13700633" y="6328410"/>
                  </a:cubicBezTo>
                  <a:lnTo>
                    <a:pt x="13700633" y="6318885"/>
                  </a:lnTo>
                  <a:lnTo>
                    <a:pt x="13700633" y="6328410"/>
                  </a:lnTo>
                  <a:lnTo>
                    <a:pt x="217297" y="6328410"/>
                  </a:lnTo>
                  <a:lnTo>
                    <a:pt x="217297" y="6318885"/>
                  </a:lnTo>
                  <a:lnTo>
                    <a:pt x="217297" y="6328410"/>
                  </a:lnTo>
                  <a:cubicBezTo>
                    <a:pt x="97282" y="6328410"/>
                    <a:pt x="0" y="6231255"/>
                    <a:pt x="0" y="6111494"/>
                  </a:cubicBezTo>
                  <a:lnTo>
                    <a:pt x="0" y="216916"/>
                  </a:lnTo>
                  <a:lnTo>
                    <a:pt x="9525" y="216916"/>
                  </a:lnTo>
                  <a:lnTo>
                    <a:pt x="0" y="216916"/>
                  </a:lnTo>
                  <a:moveTo>
                    <a:pt x="19050" y="216916"/>
                  </a:moveTo>
                  <a:lnTo>
                    <a:pt x="19050" y="6111494"/>
                  </a:lnTo>
                  <a:lnTo>
                    <a:pt x="9525" y="6111494"/>
                  </a:lnTo>
                  <a:lnTo>
                    <a:pt x="19050" y="6111494"/>
                  </a:lnTo>
                  <a:cubicBezTo>
                    <a:pt x="19050" y="6220841"/>
                    <a:pt x="107823" y="6309360"/>
                    <a:pt x="217297" y="6309360"/>
                  </a:cubicBezTo>
                  <a:lnTo>
                    <a:pt x="13700633" y="6309360"/>
                  </a:lnTo>
                  <a:cubicBezTo>
                    <a:pt x="13810107" y="6309360"/>
                    <a:pt x="13898880" y="6220714"/>
                    <a:pt x="13898880" y="6111494"/>
                  </a:cubicBezTo>
                  <a:lnTo>
                    <a:pt x="13898880" y="216916"/>
                  </a:lnTo>
                  <a:cubicBezTo>
                    <a:pt x="13898880" y="107569"/>
                    <a:pt x="13810107" y="19050"/>
                    <a:pt x="13700633" y="19050"/>
                  </a:cubicBezTo>
                  <a:lnTo>
                    <a:pt x="217297" y="19050"/>
                  </a:lnTo>
                  <a:lnTo>
                    <a:pt x="217297" y="9525"/>
                  </a:lnTo>
                  <a:lnTo>
                    <a:pt x="217297" y="19050"/>
                  </a:lnTo>
                  <a:cubicBezTo>
                    <a:pt x="107823" y="19050"/>
                    <a:pt x="19050" y="107696"/>
                    <a:pt x="19050" y="216916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292229" y="2674620"/>
            <a:ext cx="8278406" cy="4183380"/>
            <a:chOff x="0" y="0"/>
            <a:chExt cx="11037875" cy="5577840"/>
          </a:xfrm>
        </p:grpSpPr>
        <p:sp>
          <p:nvSpPr>
            <p:cNvPr id="10" name="Freeform 10" descr="Notebook DQ4: 7.15% of valid shelf-life records are within 3 days of expiry; Bakery highest by category"/>
            <p:cNvSpPr/>
            <p:nvPr/>
          </p:nvSpPr>
          <p:spPr>
            <a:xfrm>
              <a:off x="0" y="0"/>
              <a:ext cx="11037824" cy="5577840"/>
            </a:xfrm>
            <a:custGeom>
              <a:avLst/>
              <a:gdLst/>
              <a:ahLst/>
              <a:cxnLst/>
              <a:rect l="l" t="t" r="r" b="b"/>
              <a:pathLst>
                <a:path w="11037824" h="5577840">
                  <a:moveTo>
                    <a:pt x="0" y="0"/>
                  </a:moveTo>
                  <a:lnTo>
                    <a:pt x="11037824" y="0"/>
                  </a:lnTo>
                  <a:lnTo>
                    <a:pt x="11037824" y="5577840"/>
                  </a:lnTo>
                  <a:lnTo>
                    <a:pt x="0" y="557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123572" y="2324100"/>
            <a:ext cx="494599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7.15%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572" y="2956179"/>
            <a:ext cx="494599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of valid shelf-life records are within 3 days of expiry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23572" y="3901440"/>
            <a:ext cx="494599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67,950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23572" y="4533519"/>
            <a:ext cx="494599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of 949,813 valid shelf-life records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23572" y="5478780"/>
            <a:ext cx="494599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≤ 3 days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23572" y="6110859"/>
            <a:ext cx="494599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exploratory threshold, to be confirmed with the business team in Phase 3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9352" y="7406640"/>
            <a:ext cx="15850210" cy="1783080"/>
            <a:chOff x="0" y="0"/>
            <a:chExt cx="21133613" cy="2377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33561" cy="2377440"/>
            </a:xfrm>
            <a:custGeom>
              <a:avLst/>
              <a:gdLst/>
              <a:ahLst/>
              <a:cxnLst/>
              <a:rect l="l" t="t" r="r" b="b"/>
              <a:pathLst>
                <a:path w="21133561" h="2377440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20895818" y="0"/>
                  </a:lnTo>
                  <a:cubicBezTo>
                    <a:pt x="21027135" y="0"/>
                    <a:pt x="21133561" y="106426"/>
                    <a:pt x="21133561" y="237744"/>
                  </a:cubicBezTo>
                  <a:lnTo>
                    <a:pt x="21133561" y="2139696"/>
                  </a:lnTo>
                  <a:cubicBezTo>
                    <a:pt x="21133561" y="2271014"/>
                    <a:pt x="21027135" y="2377440"/>
                    <a:pt x="20895818" y="2377440"/>
                  </a:cubicBezTo>
                  <a:lnTo>
                    <a:pt x="237744" y="2377440"/>
                  </a:lnTo>
                  <a:cubicBezTo>
                    <a:pt x="106426" y="2377440"/>
                    <a:pt x="0" y="2271014"/>
                    <a:pt x="0" y="2139696"/>
                  </a:cubicBezTo>
                  <a:close/>
                </a:path>
              </a:pathLst>
            </a:custGeom>
            <a:solidFill>
              <a:srgbClr val="E6ED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62252" y="7406640"/>
            <a:ext cx="2263140" cy="1783080"/>
            <a:chOff x="0" y="0"/>
            <a:chExt cx="3017520" cy="2377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17520" cy="2377440"/>
            </a:xfrm>
            <a:custGeom>
              <a:avLst/>
              <a:gdLst/>
              <a:ahLst/>
              <a:cxnLst/>
              <a:rect l="l" t="t" r="r" b="b"/>
              <a:pathLst>
                <a:path w="3017520" h="2377440">
                  <a:moveTo>
                    <a:pt x="0" y="0"/>
                  </a:moveTo>
                  <a:lnTo>
                    <a:pt x="3017520" y="0"/>
                  </a:lnTo>
                  <a:lnTo>
                    <a:pt x="30175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087" r="-510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017520" cy="2415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C241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619652" y="7406640"/>
            <a:ext cx="13107010" cy="1783080"/>
            <a:chOff x="0" y="0"/>
            <a:chExt cx="17476013" cy="23774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476012" cy="2377440"/>
            </a:xfrm>
            <a:custGeom>
              <a:avLst/>
              <a:gdLst/>
              <a:ahLst/>
              <a:cxnLst/>
              <a:rect l="l" t="t" r="r" b="b"/>
              <a:pathLst>
                <a:path w="17476012" h="2377440">
                  <a:moveTo>
                    <a:pt x="0" y="0"/>
                  </a:moveTo>
                  <a:lnTo>
                    <a:pt x="17476012" y="0"/>
                  </a:lnTo>
                  <a:lnTo>
                    <a:pt x="1747601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3230" b="-932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7476013" cy="2425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26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the distribution of remaining shelf life across product categories and stores, and what proportion of inventory records is near expiry?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6733520" y="9504045"/>
            <a:ext cx="3429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63672" y="9573768"/>
            <a:ext cx="987552" cy="288036"/>
            <a:chOff x="0" y="0"/>
            <a:chExt cx="1316736" cy="384048"/>
          </a:xfrm>
        </p:grpSpPr>
        <p:sp>
          <p:nvSpPr>
            <p:cNvPr id="3" name="Freeform 3" descr="/tmp/claude-0/-home-claude/53688bc9-27e3-5686-afed-955967f8a57a/scratchpad/imgs/panda_dark.png"/>
            <p:cNvSpPr/>
            <p:nvPr/>
          </p:nvSpPr>
          <p:spPr>
            <a:xfrm>
              <a:off x="0" y="0"/>
              <a:ext cx="1316736" cy="384048"/>
            </a:xfrm>
            <a:custGeom>
              <a:avLst/>
              <a:gdLst/>
              <a:ahLst/>
              <a:cxnLst/>
              <a:rect l="l" t="t" r="r" b="b"/>
              <a:pathLst>
                <a:path w="1316736" h="384048">
                  <a:moveTo>
                    <a:pt x="0" y="0"/>
                  </a:moveTo>
                  <a:lnTo>
                    <a:pt x="1316736" y="0"/>
                  </a:lnTo>
                  <a:lnTo>
                    <a:pt x="1316736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" b="-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19352" y="812292"/>
            <a:ext cx="1585021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450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DESCRIPTIVE QUESTION · DQ2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352" y="1322070"/>
            <a:ext cx="15850210" cy="128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4200">
                <a:solidFill>
                  <a:srgbClr val="1F4A30"/>
                </a:solidFill>
                <a:latin typeface="Cambria"/>
                <a:ea typeface="Cambria"/>
                <a:cs typeface="Cambria"/>
                <a:sym typeface="Cambria"/>
              </a:rPr>
              <a:t>Stockout Rates: Promotion vs Non-Promotion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2209" y="2393156"/>
            <a:ext cx="10438448" cy="4746308"/>
            <a:chOff x="0" y="0"/>
            <a:chExt cx="13917930" cy="6328410"/>
          </a:xfrm>
        </p:grpSpPr>
        <p:sp>
          <p:nvSpPr>
            <p:cNvPr id="7" name="Freeform 7"/>
            <p:cNvSpPr/>
            <p:nvPr/>
          </p:nvSpPr>
          <p:spPr>
            <a:xfrm>
              <a:off x="9525" y="9525"/>
              <a:ext cx="13898880" cy="6309360"/>
            </a:xfrm>
            <a:custGeom>
              <a:avLst/>
              <a:gdLst/>
              <a:ahLst/>
              <a:cxnLst/>
              <a:rect l="l" t="t" r="r" b="b"/>
              <a:pathLst>
                <a:path w="13898880" h="6309360">
                  <a:moveTo>
                    <a:pt x="0" y="207391"/>
                  </a:moveTo>
                  <a:cubicBezTo>
                    <a:pt x="0" y="92837"/>
                    <a:pt x="93091" y="0"/>
                    <a:pt x="207772" y="0"/>
                  </a:cubicBezTo>
                  <a:lnTo>
                    <a:pt x="13691108" y="0"/>
                  </a:lnTo>
                  <a:cubicBezTo>
                    <a:pt x="13805917" y="0"/>
                    <a:pt x="13898880" y="92837"/>
                    <a:pt x="13898880" y="207391"/>
                  </a:cubicBezTo>
                  <a:lnTo>
                    <a:pt x="13898880" y="6101969"/>
                  </a:lnTo>
                  <a:cubicBezTo>
                    <a:pt x="13898880" y="6216523"/>
                    <a:pt x="13805790" y="6309360"/>
                    <a:pt x="13691108" y="6309360"/>
                  </a:cubicBezTo>
                  <a:lnTo>
                    <a:pt x="207772" y="6309360"/>
                  </a:lnTo>
                  <a:cubicBezTo>
                    <a:pt x="92964" y="6309360"/>
                    <a:pt x="0" y="6216523"/>
                    <a:pt x="0" y="61019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3917930" cy="6328410"/>
            </a:xfrm>
            <a:custGeom>
              <a:avLst/>
              <a:gdLst/>
              <a:ahLst/>
              <a:cxnLst/>
              <a:rect l="l" t="t" r="r" b="b"/>
              <a:pathLst>
                <a:path w="13917930" h="6328410">
                  <a:moveTo>
                    <a:pt x="0" y="216916"/>
                  </a:moveTo>
                  <a:cubicBezTo>
                    <a:pt x="0" y="97155"/>
                    <a:pt x="97282" y="0"/>
                    <a:pt x="217297" y="0"/>
                  </a:cubicBezTo>
                  <a:lnTo>
                    <a:pt x="13700633" y="0"/>
                  </a:lnTo>
                  <a:lnTo>
                    <a:pt x="13700633" y="9525"/>
                  </a:lnTo>
                  <a:lnTo>
                    <a:pt x="13700633" y="0"/>
                  </a:lnTo>
                  <a:cubicBezTo>
                    <a:pt x="13820648" y="0"/>
                    <a:pt x="13917930" y="97155"/>
                    <a:pt x="13917930" y="216916"/>
                  </a:cubicBezTo>
                  <a:lnTo>
                    <a:pt x="13908405" y="216916"/>
                  </a:lnTo>
                  <a:lnTo>
                    <a:pt x="13917930" y="216916"/>
                  </a:lnTo>
                  <a:lnTo>
                    <a:pt x="13917930" y="6111494"/>
                  </a:lnTo>
                  <a:lnTo>
                    <a:pt x="13908405" y="6111494"/>
                  </a:lnTo>
                  <a:lnTo>
                    <a:pt x="13917930" y="6111494"/>
                  </a:lnTo>
                  <a:cubicBezTo>
                    <a:pt x="13917930" y="6231382"/>
                    <a:pt x="13820648" y="6328410"/>
                    <a:pt x="13700633" y="6328410"/>
                  </a:cubicBezTo>
                  <a:lnTo>
                    <a:pt x="13700633" y="6318885"/>
                  </a:lnTo>
                  <a:lnTo>
                    <a:pt x="13700633" y="6328410"/>
                  </a:lnTo>
                  <a:lnTo>
                    <a:pt x="217297" y="6328410"/>
                  </a:lnTo>
                  <a:lnTo>
                    <a:pt x="217297" y="6318885"/>
                  </a:lnTo>
                  <a:lnTo>
                    <a:pt x="217297" y="6328410"/>
                  </a:lnTo>
                  <a:cubicBezTo>
                    <a:pt x="97282" y="6328410"/>
                    <a:pt x="0" y="6231255"/>
                    <a:pt x="0" y="6111494"/>
                  </a:cubicBezTo>
                  <a:lnTo>
                    <a:pt x="0" y="216916"/>
                  </a:lnTo>
                  <a:lnTo>
                    <a:pt x="9525" y="216916"/>
                  </a:lnTo>
                  <a:lnTo>
                    <a:pt x="0" y="216916"/>
                  </a:lnTo>
                  <a:moveTo>
                    <a:pt x="19050" y="216916"/>
                  </a:moveTo>
                  <a:lnTo>
                    <a:pt x="19050" y="6111494"/>
                  </a:lnTo>
                  <a:lnTo>
                    <a:pt x="9525" y="6111494"/>
                  </a:lnTo>
                  <a:lnTo>
                    <a:pt x="19050" y="6111494"/>
                  </a:lnTo>
                  <a:cubicBezTo>
                    <a:pt x="19050" y="6220841"/>
                    <a:pt x="107823" y="6309360"/>
                    <a:pt x="217297" y="6309360"/>
                  </a:cubicBezTo>
                  <a:lnTo>
                    <a:pt x="13700633" y="6309360"/>
                  </a:lnTo>
                  <a:cubicBezTo>
                    <a:pt x="13810107" y="6309360"/>
                    <a:pt x="13898880" y="6220714"/>
                    <a:pt x="13898880" y="6111494"/>
                  </a:cubicBezTo>
                  <a:lnTo>
                    <a:pt x="13898880" y="216916"/>
                  </a:lnTo>
                  <a:cubicBezTo>
                    <a:pt x="13898880" y="107569"/>
                    <a:pt x="13810107" y="19050"/>
                    <a:pt x="13700633" y="19050"/>
                  </a:cubicBezTo>
                  <a:lnTo>
                    <a:pt x="217297" y="19050"/>
                  </a:lnTo>
                  <a:lnTo>
                    <a:pt x="217297" y="9525"/>
                  </a:lnTo>
                  <a:lnTo>
                    <a:pt x="217297" y="19050"/>
                  </a:lnTo>
                  <a:cubicBezTo>
                    <a:pt x="107823" y="19050"/>
                    <a:pt x="19050" y="107696"/>
                    <a:pt x="19050" y="216916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00448" y="2674620"/>
            <a:ext cx="7061978" cy="4183380"/>
            <a:chOff x="0" y="0"/>
            <a:chExt cx="9415970" cy="5577840"/>
          </a:xfrm>
        </p:grpSpPr>
        <p:sp>
          <p:nvSpPr>
            <p:cNvPr id="10" name="Freeform 10" descr="Notebook DQ2: promotion changes stockout only slightly across the six categories"/>
            <p:cNvSpPr/>
            <p:nvPr/>
          </p:nvSpPr>
          <p:spPr>
            <a:xfrm>
              <a:off x="0" y="0"/>
              <a:ext cx="9415907" cy="5577840"/>
            </a:xfrm>
            <a:custGeom>
              <a:avLst/>
              <a:gdLst/>
              <a:ahLst/>
              <a:cxnLst/>
              <a:rect l="l" t="t" r="r" b="b"/>
              <a:pathLst>
                <a:path w="9415907" h="5577840">
                  <a:moveTo>
                    <a:pt x="0" y="0"/>
                  </a:moveTo>
                  <a:lnTo>
                    <a:pt x="9415907" y="0"/>
                  </a:lnTo>
                  <a:lnTo>
                    <a:pt x="9415907" y="5577840"/>
                  </a:lnTo>
                  <a:lnTo>
                    <a:pt x="0" y="557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123572" y="2324100"/>
            <a:ext cx="494599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2.55%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3572" y="2956179"/>
            <a:ext cx="494599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pooled stockout rate without promotion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23572" y="3901440"/>
            <a:ext cx="494599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2.49%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23572" y="4533519"/>
            <a:ext cx="494599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pooled stockout rate during promotion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23572" y="5478780"/>
            <a:ext cx="494599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−0.06 pts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23572" y="6110859"/>
            <a:ext cx="494599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promotions raise mean sales, but not the pooled stockout rate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9352" y="7406640"/>
            <a:ext cx="15850210" cy="1783080"/>
            <a:chOff x="0" y="0"/>
            <a:chExt cx="21133613" cy="2377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33561" cy="2377440"/>
            </a:xfrm>
            <a:custGeom>
              <a:avLst/>
              <a:gdLst/>
              <a:ahLst/>
              <a:cxnLst/>
              <a:rect l="l" t="t" r="r" b="b"/>
              <a:pathLst>
                <a:path w="21133561" h="2377440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20895818" y="0"/>
                  </a:lnTo>
                  <a:cubicBezTo>
                    <a:pt x="21027135" y="0"/>
                    <a:pt x="21133561" y="106426"/>
                    <a:pt x="21133561" y="237744"/>
                  </a:cubicBezTo>
                  <a:lnTo>
                    <a:pt x="21133561" y="2139696"/>
                  </a:lnTo>
                  <a:cubicBezTo>
                    <a:pt x="21133561" y="2271014"/>
                    <a:pt x="21027135" y="2377440"/>
                    <a:pt x="20895818" y="2377440"/>
                  </a:cubicBezTo>
                  <a:lnTo>
                    <a:pt x="237744" y="2377440"/>
                  </a:lnTo>
                  <a:cubicBezTo>
                    <a:pt x="106426" y="2377440"/>
                    <a:pt x="0" y="2271014"/>
                    <a:pt x="0" y="2139696"/>
                  </a:cubicBezTo>
                  <a:close/>
                </a:path>
              </a:pathLst>
            </a:custGeom>
            <a:solidFill>
              <a:srgbClr val="E6ED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62252" y="7406640"/>
            <a:ext cx="2263140" cy="1783080"/>
            <a:chOff x="0" y="0"/>
            <a:chExt cx="3017520" cy="2377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17520" cy="2377440"/>
            </a:xfrm>
            <a:custGeom>
              <a:avLst/>
              <a:gdLst/>
              <a:ahLst/>
              <a:cxnLst/>
              <a:rect l="l" t="t" r="r" b="b"/>
              <a:pathLst>
                <a:path w="3017520" h="2377440">
                  <a:moveTo>
                    <a:pt x="0" y="0"/>
                  </a:moveTo>
                  <a:lnTo>
                    <a:pt x="3017520" y="0"/>
                  </a:lnTo>
                  <a:lnTo>
                    <a:pt x="30175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087" r="-510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017520" cy="2415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C241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619652" y="7406640"/>
            <a:ext cx="13107010" cy="1783080"/>
            <a:chOff x="0" y="0"/>
            <a:chExt cx="17476013" cy="23774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476012" cy="2377440"/>
            </a:xfrm>
            <a:custGeom>
              <a:avLst/>
              <a:gdLst/>
              <a:ahLst/>
              <a:cxnLst/>
              <a:rect l="l" t="t" r="r" b="b"/>
              <a:pathLst>
                <a:path w="17476012" h="2377440">
                  <a:moveTo>
                    <a:pt x="0" y="0"/>
                  </a:moveTo>
                  <a:lnTo>
                    <a:pt x="17476012" y="0"/>
                  </a:lnTo>
                  <a:lnTo>
                    <a:pt x="1747601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3230" b="-932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7476013" cy="2425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26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differences exist in stockout rates between promotional and non-promotional periods across stores and product categories?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6733520" y="9504045"/>
            <a:ext cx="3429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63672" y="9573768"/>
            <a:ext cx="987552" cy="288036"/>
            <a:chOff x="0" y="0"/>
            <a:chExt cx="1316736" cy="384048"/>
          </a:xfrm>
        </p:grpSpPr>
        <p:sp>
          <p:nvSpPr>
            <p:cNvPr id="3" name="Freeform 3" descr="/tmp/claude-0/-home-claude/53688bc9-27e3-5686-afed-955967f8a57a/scratchpad/imgs/panda_dark.png"/>
            <p:cNvSpPr/>
            <p:nvPr/>
          </p:nvSpPr>
          <p:spPr>
            <a:xfrm>
              <a:off x="0" y="0"/>
              <a:ext cx="1316736" cy="384048"/>
            </a:xfrm>
            <a:custGeom>
              <a:avLst/>
              <a:gdLst/>
              <a:ahLst/>
              <a:cxnLst/>
              <a:rect l="l" t="t" r="r" b="b"/>
              <a:pathLst>
                <a:path w="1316736" h="384048">
                  <a:moveTo>
                    <a:pt x="0" y="0"/>
                  </a:moveTo>
                  <a:lnTo>
                    <a:pt x="1316736" y="0"/>
                  </a:lnTo>
                  <a:lnTo>
                    <a:pt x="1316736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" b="-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19352" y="812292"/>
            <a:ext cx="1585021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450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DIAGNOSTIC QUESTION · GQ3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352" y="1322070"/>
            <a:ext cx="15850210" cy="128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4200">
                <a:solidFill>
                  <a:srgbClr val="1F4A30"/>
                </a:solidFill>
                <a:latin typeface="Cambria"/>
                <a:ea typeface="Cambria"/>
                <a:cs typeface="Cambria"/>
                <a:sym typeface="Cambria"/>
              </a:rPr>
              <a:t>Why Stockout Differs Between Promotion and Non-Promotion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2209" y="2393156"/>
            <a:ext cx="10438448" cy="4746308"/>
            <a:chOff x="0" y="0"/>
            <a:chExt cx="13917930" cy="6328410"/>
          </a:xfrm>
        </p:grpSpPr>
        <p:sp>
          <p:nvSpPr>
            <p:cNvPr id="7" name="Freeform 7"/>
            <p:cNvSpPr/>
            <p:nvPr/>
          </p:nvSpPr>
          <p:spPr>
            <a:xfrm>
              <a:off x="9525" y="9525"/>
              <a:ext cx="13898880" cy="6309360"/>
            </a:xfrm>
            <a:custGeom>
              <a:avLst/>
              <a:gdLst/>
              <a:ahLst/>
              <a:cxnLst/>
              <a:rect l="l" t="t" r="r" b="b"/>
              <a:pathLst>
                <a:path w="13898880" h="6309360">
                  <a:moveTo>
                    <a:pt x="0" y="207391"/>
                  </a:moveTo>
                  <a:cubicBezTo>
                    <a:pt x="0" y="92837"/>
                    <a:pt x="93091" y="0"/>
                    <a:pt x="207772" y="0"/>
                  </a:cubicBezTo>
                  <a:lnTo>
                    <a:pt x="13691108" y="0"/>
                  </a:lnTo>
                  <a:cubicBezTo>
                    <a:pt x="13805917" y="0"/>
                    <a:pt x="13898880" y="92837"/>
                    <a:pt x="13898880" y="207391"/>
                  </a:cubicBezTo>
                  <a:lnTo>
                    <a:pt x="13898880" y="6101969"/>
                  </a:lnTo>
                  <a:cubicBezTo>
                    <a:pt x="13898880" y="6216523"/>
                    <a:pt x="13805790" y="6309360"/>
                    <a:pt x="13691108" y="6309360"/>
                  </a:cubicBezTo>
                  <a:lnTo>
                    <a:pt x="207772" y="6309360"/>
                  </a:lnTo>
                  <a:cubicBezTo>
                    <a:pt x="92964" y="6309360"/>
                    <a:pt x="0" y="6216523"/>
                    <a:pt x="0" y="610196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3917930" cy="6328410"/>
            </a:xfrm>
            <a:custGeom>
              <a:avLst/>
              <a:gdLst/>
              <a:ahLst/>
              <a:cxnLst/>
              <a:rect l="l" t="t" r="r" b="b"/>
              <a:pathLst>
                <a:path w="13917930" h="6328410">
                  <a:moveTo>
                    <a:pt x="0" y="216916"/>
                  </a:moveTo>
                  <a:cubicBezTo>
                    <a:pt x="0" y="97155"/>
                    <a:pt x="97282" y="0"/>
                    <a:pt x="217297" y="0"/>
                  </a:cubicBezTo>
                  <a:lnTo>
                    <a:pt x="13700633" y="0"/>
                  </a:lnTo>
                  <a:lnTo>
                    <a:pt x="13700633" y="9525"/>
                  </a:lnTo>
                  <a:lnTo>
                    <a:pt x="13700633" y="0"/>
                  </a:lnTo>
                  <a:cubicBezTo>
                    <a:pt x="13820648" y="0"/>
                    <a:pt x="13917930" y="97155"/>
                    <a:pt x="13917930" y="216916"/>
                  </a:cubicBezTo>
                  <a:lnTo>
                    <a:pt x="13908405" y="216916"/>
                  </a:lnTo>
                  <a:lnTo>
                    <a:pt x="13917930" y="216916"/>
                  </a:lnTo>
                  <a:lnTo>
                    <a:pt x="13917930" y="6111494"/>
                  </a:lnTo>
                  <a:lnTo>
                    <a:pt x="13908405" y="6111494"/>
                  </a:lnTo>
                  <a:lnTo>
                    <a:pt x="13917930" y="6111494"/>
                  </a:lnTo>
                  <a:cubicBezTo>
                    <a:pt x="13917930" y="6231382"/>
                    <a:pt x="13820648" y="6328410"/>
                    <a:pt x="13700633" y="6328410"/>
                  </a:cubicBezTo>
                  <a:lnTo>
                    <a:pt x="13700633" y="6318885"/>
                  </a:lnTo>
                  <a:lnTo>
                    <a:pt x="13700633" y="6328410"/>
                  </a:lnTo>
                  <a:lnTo>
                    <a:pt x="217297" y="6328410"/>
                  </a:lnTo>
                  <a:lnTo>
                    <a:pt x="217297" y="6318885"/>
                  </a:lnTo>
                  <a:lnTo>
                    <a:pt x="217297" y="6328410"/>
                  </a:lnTo>
                  <a:cubicBezTo>
                    <a:pt x="97282" y="6328410"/>
                    <a:pt x="0" y="6231255"/>
                    <a:pt x="0" y="6111494"/>
                  </a:cubicBezTo>
                  <a:lnTo>
                    <a:pt x="0" y="216916"/>
                  </a:lnTo>
                  <a:lnTo>
                    <a:pt x="9525" y="216916"/>
                  </a:lnTo>
                  <a:lnTo>
                    <a:pt x="0" y="216916"/>
                  </a:lnTo>
                  <a:moveTo>
                    <a:pt x="19050" y="216916"/>
                  </a:moveTo>
                  <a:lnTo>
                    <a:pt x="19050" y="6111494"/>
                  </a:lnTo>
                  <a:lnTo>
                    <a:pt x="9525" y="6111494"/>
                  </a:lnTo>
                  <a:lnTo>
                    <a:pt x="19050" y="6111494"/>
                  </a:lnTo>
                  <a:cubicBezTo>
                    <a:pt x="19050" y="6220841"/>
                    <a:pt x="107823" y="6309360"/>
                    <a:pt x="217297" y="6309360"/>
                  </a:cubicBezTo>
                  <a:lnTo>
                    <a:pt x="13700633" y="6309360"/>
                  </a:lnTo>
                  <a:cubicBezTo>
                    <a:pt x="13810107" y="6309360"/>
                    <a:pt x="13898880" y="6220714"/>
                    <a:pt x="13898880" y="6111494"/>
                  </a:cubicBezTo>
                  <a:lnTo>
                    <a:pt x="13898880" y="216916"/>
                  </a:lnTo>
                  <a:cubicBezTo>
                    <a:pt x="13898880" y="107569"/>
                    <a:pt x="13810107" y="19050"/>
                    <a:pt x="13700633" y="19050"/>
                  </a:cubicBezTo>
                  <a:lnTo>
                    <a:pt x="217297" y="19050"/>
                  </a:lnTo>
                  <a:lnTo>
                    <a:pt x="217297" y="9525"/>
                  </a:lnTo>
                  <a:lnTo>
                    <a:pt x="217297" y="19050"/>
                  </a:lnTo>
                  <a:cubicBezTo>
                    <a:pt x="107823" y="19050"/>
                    <a:pt x="19050" y="107696"/>
                    <a:pt x="19050" y="216916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21548" y="2674620"/>
            <a:ext cx="8819769" cy="4183380"/>
            <a:chOff x="0" y="0"/>
            <a:chExt cx="11759692" cy="5577840"/>
          </a:xfrm>
        </p:grpSpPr>
        <p:sp>
          <p:nvSpPr>
            <p:cNvPr id="10" name="Freeform 10" descr="Notebook GQ3: promotions raise mean sales and median on-hand while stockout rate stays almost unchanged"/>
            <p:cNvSpPr/>
            <p:nvPr/>
          </p:nvSpPr>
          <p:spPr>
            <a:xfrm>
              <a:off x="0" y="0"/>
              <a:ext cx="11759692" cy="5577840"/>
            </a:xfrm>
            <a:custGeom>
              <a:avLst/>
              <a:gdLst/>
              <a:ahLst/>
              <a:cxnLst/>
              <a:rect l="l" t="t" r="r" b="b"/>
              <a:pathLst>
                <a:path w="11759692" h="5577840">
                  <a:moveTo>
                    <a:pt x="0" y="0"/>
                  </a:moveTo>
                  <a:lnTo>
                    <a:pt x="11759692" y="0"/>
                  </a:lnTo>
                  <a:lnTo>
                    <a:pt x="11759692" y="5577840"/>
                  </a:lnTo>
                  <a:lnTo>
                    <a:pt x="0" y="557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077852" y="2933700"/>
            <a:ext cx="494599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24.55 → 38.98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7852" y="3565779"/>
            <a:ext cx="494599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Mean Sale: no promotion vs promotion (+59%)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77852" y="4511040"/>
            <a:ext cx="494599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2.55% vs 2.49%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77852" y="5143119"/>
            <a:ext cx="4945990" cy="80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554E"/>
                </a:solidFill>
                <a:latin typeface="Calibri (MS)"/>
                <a:ea typeface="Calibri (MS)"/>
                <a:cs typeface="Calibri (MS)"/>
                <a:sym typeface="Calibri (MS)"/>
              </a:rPr>
              <a:t>stockout rate without vs with promotion: keep stable 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19352" y="7406640"/>
            <a:ext cx="15850210" cy="1783080"/>
            <a:chOff x="0" y="0"/>
            <a:chExt cx="21133613" cy="2377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133561" cy="2377440"/>
            </a:xfrm>
            <a:custGeom>
              <a:avLst/>
              <a:gdLst/>
              <a:ahLst/>
              <a:cxnLst/>
              <a:rect l="l" t="t" r="r" b="b"/>
              <a:pathLst>
                <a:path w="21133561" h="2377440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lnTo>
                    <a:pt x="20895818" y="0"/>
                  </a:lnTo>
                  <a:cubicBezTo>
                    <a:pt x="21027135" y="0"/>
                    <a:pt x="21133561" y="106426"/>
                    <a:pt x="21133561" y="237744"/>
                  </a:cubicBezTo>
                  <a:lnTo>
                    <a:pt x="21133561" y="2139696"/>
                  </a:lnTo>
                  <a:cubicBezTo>
                    <a:pt x="21133561" y="2271014"/>
                    <a:pt x="21027135" y="2377440"/>
                    <a:pt x="20895818" y="2377440"/>
                  </a:cubicBezTo>
                  <a:lnTo>
                    <a:pt x="237744" y="2377440"/>
                  </a:lnTo>
                  <a:cubicBezTo>
                    <a:pt x="106426" y="2377440"/>
                    <a:pt x="0" y="2271014"/>
                    <a:pt x="0" y="2139696"/>
                  </a:cubicBezTo>
                  <a:close/>
                </a:path>
              </a:pathLst>
            </a:custGeom>
            <a:solidFill>
              <a:srgbClr val="E6ED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2252" y="7406640"/>
            <a:ext cx="2263140" cy="1783080"/>
            <a:chOff x="0" y="0"/>
            <a:chExt cx="3017520" cy="2377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17520" cy="2377440"/>
            </a:xfrm>
            <a:custGeom>
              <a:avLst/>
              <a:gdLst/>
              <a:ahLst/>
              <a:cxnLst/>
              <a:rect l="l" t="t" r="r" b="b"/>
              <a:pathLst>
                <a:path w="3017520" h="2377440">
                  <a:moveTo>
                    <a:pt x="0" y="0"/>
                  </a:moveTo>
                  <a:lnTo>
                    <a:pt x="3017520" y="0"/>
                  </a:lnTo>
                  <a:lnTo>
                    <a:pt x="30175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1087" r="-510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017520" cy="2415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C241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619652" y="7406640"/>
            <a:ext cx="13107010" cy="1783080"/>
            <a:chOff x="0" y="0"/>
            <a:chExt cx="17476013" cy="2377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476012" cy="2377440"/>
            </a:xfrm>
            <a:custGeom>
              <a:avLst/>
              <a:gdLst/>
              <a:ahLst/>
              <a:cxnLst/>
              <a:rect l="l" t="t" r="r" b="b"/>
              <a:pathLst>
                <a:path w="17476012" h="2377440">
                  <a:moveTo>
                    <a:pt x="0" y="0"/>
                  </a:moveTo>
                  <a:lnTo>
                    <a:pt x="17476012" y="0"/>
                  </a:lnTo>
                  <a:lnTo>
                    <a:pt x="17476012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3230" b="-932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7476013" cy="2425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262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do stockout rates differ between promotional and non-promotional periods, considering sales volumes, on-hand inventory, and supplier lead times?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733520" y="9504045"/>
            <a:ext cx="3429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63672" y="9573768"/>
            <a:ext cx="987552" cy="288036"/>
            <a:chOff x="0" y="0"/>
            <a:chExt cx="1316736" cy="384048"/>
          </a:xfrm>
        </p:grpSpPr>
        <p:sp>
          <p:nvSpPr>
            <p:cNvPr id="3" name="Freeform 3" descr="/tmp/claude-0/-home-claude/53688bc9-27e3-5686-afed-955967f8a57a/scratchpad/imgs/panda_dark.png"/>
            <p:cNvSpPr/>
            <p:nvPr/>
          </p:nvSpPr>
          <p:spPr>
            <a:xfrm>
              <a:off x="0" y="0"/>
              <a:ext cx="1316736" cy="384048"/>
            </a:xfrm>
            <a:custGeom>
              <a:avLst/>
              <a:gdLst/>
              <a:ahLst/>
              <a:cxnLst/>
              <a:rect l="l" t="t" r="r" b="b"/>
              <a:pathLst>
                <a:path w="1316736" h="384048">
                  <a:moveTo>
                    <a:pt x="0" y="0"/>
                  </a:moveTo>
                  <a:lnTo>
                    <a:pt x="1316736" y="0"/>
                  </a:lnTo>
                  <a:lnTo>
                    <a:pt x="1316736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2" b="-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19352" y="812292"/>
            <a:ext cx="15850210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450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THE DATA TELLS 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352" y="1322070"/>
            <a:ext cx="15850210" cy="128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4200">
                <a:solidFill>
                  <a:srgbClr val="1F4A30"/>
                </a:solidFill>
                <a:latin typeface="Cambria"/>
                <a:ea typeface="Cambria"/>
                <a:cs typeface="Cambria"/>
                <a:sym typeface="Cambria"/>
              </a:rPr>
              <a:t>Three findings Panda can act 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2209" y="2255996"/>
            <a:ext cx="5114811" cy="7009447"/>
            <a:chOff x="0" y="0"/>
            <a:chExt cx="6819748" cy="9345930"/>
          </a:xfrm>
        </p:grpSpPr>
        <p:sp>
          <p:nvSpPr>
            <p:cNvPr id="7" name="Freeform 7"/>
            <p:cNvSpPr/>
            <p:nvPr/>
          </p:nvSpPr>
          <p:spPr>
            <a:xfrm>
              <a:off x="9525" y="9525"/>
              <a:ext cx="6800724" cy="9326880"/>
            </a:xfrm>
            <a:custGeom>
              <a:avLst/>
              <a:gdLst/>
              <a:ahLst/>
              <a:cxnLst/>
              <a:rect l="l" t="t" r="r" b="b"/>
              <a:pathLst>
                <a:path w="6800724" h="9326880">
                  <a:moveTo>
                    <a:pt x="0" y="219583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581267" y="0"/>
                  </a:lnTo>
                  <a:cubicBezTo>
                    <a:pt x="6702425" y="0"/>
                    <a:pt x="6800724" y="98298"/>
                    <a:pt x="6800724" y="219583"/>
                  </a:cubicBezTo>
                  <a:lnTo>
                    <a:pt x="6800724" y="9107297"/>
                  </a:lnTo>
                  <a:cubicBezTo>
                    <a:pt x="6800724" y="9228582"/>
                    <a:pt x="6702425" y="9326880"/>
                    <a:pt x="6581267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29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6819774" cy="9345930"/>
            </a:xfrm>
            <a:custGeom>
              <a:avLst/>
              <a:gdLst/>
              <a:ahLst/>
              <a:cxnLst/>
              <a:rect l="l" t="t" r="r" b="b"/>
              <a:pathLst>
                <a:path w="6819774" h="9345930">
                  <a:moveTo>
                    <a:pt x="0" y="229108"/>
                  </a:moveTo>
                  <a:cubicBezTo>
                    <a:pt x="0" y="102616"/>
                    <a:pt x="102489" y="0"/>
                    <a:pt x="228981" y="0"/>
                  </a:cubicBezTo>
                  <a:lnTo>
                    <a:pt x="6590792" y="0"/>
                  </a:lnTo>
                  <a:lnTo>
                    <a:pt x="6590792" y="9525"/>
                  </a:lnTo>
                  <a:lnTo>
                    <a:pt x="6590792" y="0"/>
                  </a:lnTo>
                  <a:cubicBezTo>
                    <a:pt x="6717285" y="0"/>
                    <a:pt x="6819774" y="102616"/>
                    <a:pt x="6819774" y="229108"/>
                  </a:cubicBezTo>
                  <a:lnTo>
                    <a:pt x="6810249" y="229108"/>
                  </a:lnTo>
                  <a:lnTo>
                    <a:pt x="6819774" y="229108"/>
                  </a:lnTo>
                  <a:lnTo>
                    <a:pt x="6819774" y="9116822"/>
                  </a:lnTo>
                  <a:lnTo>
                    <a:pt x="6810249" y="9116822"/>
                  </a:lnTo>
                  <a:lnTo>
                    <a:pt x="6819774" y="9116822"/>
                  </a:lnTo>
                  <a:cubicBezTo>
                    <a:pt x="6819774" y="9243314"/>
                    <a:pt x="6717285" y="9345930"/>
                    <a:pt x="6590792" y="9345930"/>
                  </a:cubicBezTo>
                  <a:lnTo>
                    <a:pt x="6590792" y="9336405"/>
                  </a:lnTo>
                  <a:lnTo>
                    <a:pt x="6590792" y="9345930"/>
                  </a:lnTo>
                  <a:lnTo>
                    <a:pt x="228981" y="9345930"/>
                  </a:lnTo>
                  <a:lnTo>
                    <a:pt x="228981" y="9336405"/>
                  </a:lnTo>
                  <a:lnTo>
                    <a:pt x="228981" y="9345930"/>
                  </a:lnTo>
                  <a:cubicBezTo>
                    <a:pt x="102489" y="9345930"/>
                    <a:pt x="0" y="9243314"/>
                    <a:pt x="0" y="9116822"/>
                  </a:cubicBezTo>
                  <a:lnTo>
                    <a:pt x="0" y="229108"/>
                  </a:lnTo>
                  <a:lnTo>
                    <a:pt x="9525" y="229108"/>
                  </a:lnTo>
                  <a:lnTo>
                    <a:pt x="0" y="229108"/>
                  </a:lnTo>
                  <a:moveTo>
                    <a:pt x="19050" y="229108"/>
                  </a:moveTo>
                  <a:lnTo>
                    <a:pt x="19050" y="9116822"/>
                  </a:lnTo>
                  <a:lnTo>
                    <a:pt x="9525" y="9116822"/>
                  </a:lnTo>
                  <a:lnTo>
                    <a:pt x="19050" y="9116822"/>
                  </a:lnTo>
                  <a:cubicBezTo>
                    <a:pt x="19050" y="9232900"/>
                    <a:pt x="113030" y="9326880"/>
                    <a:pt x="228981" y="9326880"/>
                  </a:cubicBezTo>
                  <a:lnTo>
                    <a:pt x="6590792" y="9326880"/>
                  </a:lnTo>
                  <a:cubicBezTo>
                    <a:pt x="6706743" y="9326880"/>
                    <a:pt x="6800724" y="9232773"/>
                    <a:pt x="6800724" y="9116822"/>
                  </a:cubicBezTo>
                  <a:lnTo>
                    <a:pt x="6800724" y="229108"/>
                  </a:lnTo>
                  <a:cubicBezTo>
                    <a:pt x="6800724" y="113030"/>
                    <a:pt x="6706743" y="19050"/>
                    <a:pt x="6590792" y="19050"/>
                  </a:cubicBezTo>
                  <a:lnTo>
                    <a:pt x="228981" y="19050"/>
                  </a:lnTo>
                  <a:lnTo>
                    <a:pt x="228981" y="9525"/>
                  </a:lnTo>
                  <a:lnTo>
                    <a:pt x="228981" y="19050"/>
                  </a:lnTo>
                  <a:cubicBezTo>
                    <a:pt x="113030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03400" y="2567940"/>
            <a:ext cx="4332427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300">
                <a:solidFill>
                  <a:srgbClr val="4A55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· WASTE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3400" y="2874645"/>
            <a:ext cx="4332427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1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27.8%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3400" y="4026027"/>
            <a:ext cx="4332427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C2620"/>
                </a:solidFill>
                <a:latin typeface="Calibri (MS)"/>
                <a:ea typeface="Calibri (MS)"/>
                <a:cs typeface="Calibri (MS)"/>
                <a:sym typeface="Calibri (MS)"/>
              </a:rPr>
              <a:t>of all waste comes from the </a:t>
            </a:r>
            <a:r>
              <a:rPr lang="en-US" sz="1950" b="1">
                <a:solidFill>
                  <a:srgbClr val="1C26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3.6%</a:t>
            </a:r>
            <a:r>
              <a:rPr lang="en-US" sz="1950">
                <a:solidFill>
                  <a:srgbClr val="1C2620"/>
                </a:solidFill>
                <a:latin typeface="Calibri (MS)"/>
                <a:ea typeface="Calibri (MS)"/>
                <a:cs typeface="Calibri (MS)"/>
                <a:sym typeface="Calibri (MS)"/>
              </a:rPr>
              <a:t> of stock with 2 days left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03400" y="4943313"/>
            <a:ext cx="4332427" cy="2348046"/>
            <a:chOff x="0" y="0"/>
            <a:chExt cx="5776570" cy="3130728"/>
          </a:xfrm>
        </p:grpSpPr>
        <p:sp>
          <p:nvSpPr>
            <p:cNvPr id="13" name="Freeform 13" descr="Notebook chart: mean waste 7.29 units at 2 days of shelf life vs 0.66 otherwise"/>
            <p:cNvSpPr/>
            <p:nvPr/>
          </p:nvSpPr>
          <p:spPr>
            <a:xfrm>
              <a:off x="0" y="0"/>
              <a:ext cx="5776595" cy="3130677"/>
            </a:xfrm>
            <a:custGeom>
              <a:avLst/>
              <a:gdLst/>
              <a:ahLst/>
              <a:cxnLst/>
              <a:rect l="l" t="t" r="r" b="b"/>
              <a:pathLst>
                <a:path w="5776595" h="3130677">
                  <a:moveTo>
                    <a:pt x="0" y="0"/>
                  </a:moveTo>
                  <a:lnTo>
                    <a:pt x="5776595" y="0"/>
                  </a:lnTo>
                  <a:lnTo>
                    <a:pt x="5776595" y="3130677"/>
                  </a:lnTo>
                  <a:lnTo>
                    <a:pt x="0" y="3130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03400" y="7336917"/>
            <a:ext cx="4332427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Mean waste per record: 7.29 at 2 days vs 0.66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03400" y="7886700"/>
            <a:ext cx="4332427" cy="1028700"/>
            <a:chOff x="0" y="0"/>
            <a:chExt cx="5776570" cy="1371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76595" cy="1371600"/>
            </a:xfrm>
            <a:custGeom>
              <a:avLst/>
              <a:gdLst/>
              <a:ahLst/>
              <a:cxnLst/>
              <a:rect l="l" t="t" r="r" b="b"/>
              <a:pathLst>
                <a:path w="5776595" h="1371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630291" y="0"/>
                  </a:lnTo>
                  <a:cubicBezTo>
                    <a:pt x="5711063" y="0"/>
                    <a:pt x="5776595" y="65532"/>
                    <a:pt x="5776595" y="146304"/>
                  </a:cubicBezTo>
                  <a:lnTo>
                    <a:pt x="5776595" y="1225296"/>
                  </a:lnTo>
                  <a:cubicBezTo>
                    <a:pt x="5776595" y="1306068"/>
                    <a:pt x="5711063" y="1371600"/>
                    <a:pt x="5630291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E6ED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09140" y="7886700"/>
            <a:ext cx="3920947" cy="1028700"/>
            <a:chOff x="0" y="0"/>
            <a:chExt cx="5227930" cy="1371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227930" cy="1371600"/>
            </a:xfrm>
            <a:custGeom>
              <a:avLst/>
              <a:gdLst/>
              <a:ahLst/>
              <a:cxnLst/>
              <a:rect l="l" t="t" r="r" b="b"/>
              <a:pathLst>
                <a:path w="5227930" h="1371600">
                  <a:moveTo>
                    <a:pt x="0" y="0"/>
                  </a:moveTo>
                  <a:lnTo>
                    <a:pt x="5227930" y="0"/>
                  </a:lnTo>
                  <a:lnTo>
                    <a:pt x="522793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4268" b="-242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522793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F4A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 what: </a:t>
              </a:r>
              <a:r>
                <a:rPr lang="en-US" sz="1950">
                  <a:solidFill>
                    <a:srgbClr val="1F4A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 down or transfer 2–3 days before expiry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87052" y="2255996"/>
            <a:ext cx="5114811" cy="7009447"/>
            <a:chOff x="0" y="0"/>
            <a:chExt cx="6819748" cy="9345930"/>
          </a:xfrm>
        </p:grpSpPr>
        <p:sp>
          <p:nvSpPr>
            <p:cNvPr id="21" name="Freeform 21"/>
            <p:cNvSpPr/>
            <p:nvPr/>
          </p:nvSpPr>
          <p:spPr>
            <a:xfrm>
              <a:off x="9525" y="9525"/>
              <a:ext cx="6800724" cy="9326880"/>
            </a:xfrm>
            <a:custGeom>
              <a:avLst/>
              <a:gdLst/>
              <a:ahLst/>
              <a:cxnLst/>
              <a:rect l="l" t="t" r="r" b="b"/>
              <a:pathLst>
                <a:path w="6800724" h="9326880">
                  <a:moveTo>
                    <a:pt x="0" y="219583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581267" y="0"/>
                  </a:lnTo>
                  <a:cubicBezTo>
                    <a:pt x="6702425" y="0"/>
                    <a:pt x="6800724" y="98298"/>
                    <a:pt x="6800724" y="219583"/>
                  </a:cubicBezTo>
                  <a:lnTo>
                    <a:pt x="6800724" y="9107297"/>
                  </a:lnTo>
                  <a:cubicBezTo>
                    <a:pt x="6800724" y="9228582"/>
                    <a:pt x="6702425" y="9326880"/>
                    <a:pt x="6581267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29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6819774" cy="9345930"/>
            </a:xfrm>
            <a:custGeom>
              <a:avLst/>
              <a:gdLst/>
              <a:ahLst/>
              <a:cxnLst/>
              <a:rect l="l" t="t" r="r" b="b"/>
              <a:pathLst>
                <a:path w="6819774" h="9345930">
                  <a:moveTo>
                    <a:pt x="0" y="229108"/>
                  </a:moveTo>
                  <a:cubicBezTo>
                    <a:pt x="0" y="102616"/>
                    <a:pt x="102489" y="0"/>
                    <a:pt x="228981" y="0"/>
                  </a:cubicBezTo>
                  <a:lnTo>
                    <a:pt x="6590792" y="0"/>
                  </a:lnTo>
                  <a:lnTo>
                    <a:pt x="6590792" y="9525"/>
                  </a:lnTo>
                  <a:lnTo>
                    <a:pt x="6590792" y="0"/>
                  </a:lnTo>
                  <a:cubicBezTo>
                    <a:pt x="6717285" y="0"/>
                    <a:pt x="6819774" y="102616"/>
                    <a:pt x="6819774" y="229108"/>
                  </a:cubicBezTo>
                  <a:lnTo>
                    <a:pt x="6810249" y="229108"/>
                  </a:lnTo>
                  <a:lnTo>
                    <a:pt x="6819774" y="229108"/>
                  </a:lnTo>
                  <a:lnTo>
                    <a:pt x="6819774" y="9116822"/>
                  </a:lnTo>
                  <a:lnTo>
                    <a:pt x="6810249" y="9116822"/>
                  </a:lnTo>
                  <a:lnTo>
                    <a:pt x="6819774" y="9116822"/>
                  </a:lnTo>
                  <a:cubicBezTo>
                    <a:pt x="6819774" y="9243314"/>
                    <a:pt x="6717285" y="9345930"/>
                    <a:pt x="6590792" y="9345930"/>
                  </a:cubicBezTo>
                  <a:lnTo>
                    <a:pt x="6590792" y="9336405"/>
                  </a:lnTo>
                  <a:lnTo>
                    <a:pt x="6590792" y="9345930"/>
                  </a:lnTo>
                  <a:lnTo>
                    <a:pt x="228981" y="9345930"/>
                  </a:lnTo>
                  <a:lnTo>
                    <a:pt x="228981" y="9336405"/>
                  </a:lnTo>
                  <a:lnTo>
                    <a:pt x="228981" y="9345930"/>
                  </a:lnTo>
                  <a:cubicBezTo>
                    <a:pt x="102489" y="9345930"/>
                    <a:pt x="0" y="9243314"/>
                    <a:pt x="0" y="9116822"/>
                  </a:cubicBezTo>
                  <a:lnTo>
                    <a:pt x="0" y="229108"/>
                  </a:lnTo>
                  <a:lnTo>
                    <a:pt x="9525" y="229108"/>
                  </a:lnTo>
                  <a:lnTo>
                    <a:pt x="0" y="229108"/>
                  </a:lnTo>
                  <a:moveTo>
                    <a:pt x="19050" y="229108"/>
                  </a:moveTo>
                  <a:lnTo>
                    <a:pt x="19050" y="9116822"/>
                  </a:lnTo>
                  <a:lnTo>
                    <a:pt x="9525" y="9116822"/>
                  </a:lnTo>
                  <a:lnTo>
                    <a:pt x="19050" y="9116822"/>
                  </a:lnTo>
                  <a:cubicBezTo>
                    <a:pt x="19050" y="9232900"/>
                    <a:pt x="113030" y="9326880"/>
                    <a:pt x="228981" y="9326880"/>
                  </a:cubicBezTo>
                  <a:lnTo>
                    <a:pt x="6590792" y="9326880"/>
                  </a:lnTo>
                  <a:cubicBezTo>
                    <a:pt x="6706743" y="9326880"/>
                    <a:pt x="6800724" y="9232773"/>
                    <a:pt x="6800724" y="9116822"/>
                  </a:cubicBezTo>
                  <a:lnTo>
                    <a:pt x="6800724" y="229108"/>
                  </a:lnTo>
                  <a:cubicBezTo>
                    <a:pt x="6800724" y="113030"/>
                    <a:pt x="6706743" y="19050"/>
                    <a:pt x="6590792" y="19050"/>
                  </a:cubicBezTo>
                  <a:lnTo>
                    <a:pt x="228981" y="19050"/>
                  </a:lnTo>
                  <a:lnTo>
                    <a:pt x="228981" y="9525"/>
                  </a:lnTo>
                  <a:lnTo>
                    <a:pt x="228981" y="19050"/>
                  </a:lnTo>
                  <a:cubicBezTo>
                    <a:pt x="113030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978244" y="2567940"/>
            <a:ext cx="4332427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300">
                <a:solidFill>
                  <a:srgbClr val="4A55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· DEMAND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78244" y="2874645"/>
            <a:ext cx="4332427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1">
                <a:solidFill>
                  <a:srgbClr val="1F4A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+59%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78244" y="4026027"/>
            <a:ext cx="4332427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C2620"/>
                </a:solidFill>
                <a:latin typeface="Calibri (MS)"/>
                <a:ea typeface="Calibri (MS)"/>
                <a:cs typeface="Calibri (MS)"/>
                <a:sym typeface="Calibri (MS)"/>
              </a:rPr>
              <a:t>more units sold on promotion, and </a:t>
            </a:r>
            <a:r>
              <a:rPr lang="en-US" sz="1950" b="1">
                <a:solidFill>
                  <a:srgbClr val="1C26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≈3×</a:t>
            </a:r>
            <a:r>
              <a:rPr lang="en-US" sz="1950">
                <a:solidFill>
                  <a:srgbClr val="1C2620"/>
                </a:solidFill>
                <a:latin typeface="Calibri (MS)"/>
                <a:ea typeface="Calibri (MS)"/>
                <a:cs typeface="Calibri (MS)"/>
                <a:sym typeface="Calibri (MS)"/>
              </a:rPr>
              <a:t> more in the busiest stores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956575" y="4937760"/>
            <a:ext cx="2375764" cy="2359152"/>
            <a:chOff x="0" y="0"/>
            <a:chExt cx="3167685" cy="3145536"/>
          </a:xfrm>
        </p:grpSpPr>
        <p:sp>
          <p:nvSpPr>
            <p:cNvPr id="27" name="Freeform 27" descr="Notebook chart: mean units sold 24.55 without promotion vs 38.98 with promotion"/>
            <p:cNvSpPr/>
            <p:nvPr/>
          </p:nvSpPr>
          <p:spPr>
            <a:xfrm>
              <a:off x="0" y="0"/>
              <a:ext cx="3167634" cy="3145536"/>
            </a:xfrm>
            <a:custGeom>
              <a:avLst/>
              <a:gdLst/>
              <a:ahLst/>
              <a:cxnLst/>
              <a:rect l="l" t="t" r="r" b="b"/>
              <a:pathLst>
                <a:path w="3167634" h="3145536">
                  <a:moveTo>
                    <a:pt x="0" y="0"/>
                  </a:moveTo>
                  <a:lnTo>
                    <a:pt x="3167634" y="0"/>
                  </a:lnTo>
                  <a:lnTo>
                    <a:pt x="3167634" y="3145536"/>
                  </a:lnTo>
                  <a:lnTo>
                    <a:pt x="0" y="3145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978244" y="7336917"/>
            <a:ext cx="4332427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Mean sales: 24.55 → 38.98 on promotion 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978244" y="7886700"/>
            <a:ext cx="4332427" cy="1028700"/>
            <a:chOff x="0" y="0"/>
            <a:chExt cx="5776570" cy="1371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776595" cy="1371600"/>
            </a:xfrm>
            <a:custGeom>
              <a:avLst/>
              <a:gdLst/>
              <a:ahLst/>
              <a:cxnLst/>
              <a:rect l="l" t="t" r="r" b="b"/>
              <a:pathLst>
                <a:path w="5776595" h="1371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630291" y="0"/>
                  </a:lnTo>
                  <a:cubicBezTo>
                    <a:pt x="5711063" y="0"/>
                    <a:pt x="5776595" y="65532"/>
                    <a:pt x="5776595" y="146304"/>
                  </a:cubicBezTo>
                  <a:lnTo>
                    <a:pt x="5776595" y="1225296"/>
                  </a:lnTo>
                  <a:cubicBezTo>
                    <a:pt x="5776595" y="1306068"/>
                    <a:pt x="5711063" y="1371600"/>
                    <a:pt x="5630291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E6ED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183984" y="7886700"/>
            <a:ext cx="3920947" cy="1028700"/>
            <a:chOff x="0" y="0"/>
            <a:chExt cx="5227930" cy="1371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227930" cy="1371600"/>
            </a:xfrm>
            <a:custGeom>
              <a:avLst/>
              <a:gdLst/>
              <a:ahLst/>
              <a:cxnLst/>
              <a:rect l="l" t="t" r="r" b="b"/>
              <a:pathLst>
                <a:path w="5227930" h="1371600">
                  <a:moveTo>
                    <a:pt x="0" y="0"/>
                  </a:moveTo>
                  <a:lnTo>
                    <a:pt x="5227930" y="0"/>
                  </a:lnTo>
                  <a:lnTo>
                    <a:pt x="522793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4268" b="-242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522793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F4A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 what: </a:t>
              </a:r>
              <a:r>
                <a:rPr lang="en-US" sz="1950">
                  <a:solidFill>
                    <a:srgbClr val="1F4A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forecast with the promotion calendar and store traffic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61895" y="2255996"/>
            <a:ext cx="5114811" cy="7009447"/>
            <a:chOff x="0" y="0"/>
            <a:chExt cx="6819748" cy="9345930"/>
          </a:xfrm>
        </p:grpSpPr>
        <p:sp>
          <p:nvSpPr>
            <p:cNvPr id="35" name="Freeform 35"/>
            <p:cNvSpPr/>
            <p:nvPr/>
          </p:nvSpPr>
          <p:spPr>
            <a:xfrm>
              <a:off x="9525" y="9525"/>
              <a:ext cx="6800724" cy="9326880"/>
            </a:xfrm>
            <a:custGeom>
              <a:avLst/>
              <a:gdLst/>
              <a:ahLst/>
              <a:cxnLst/>
              <a:rect l="l" t="t" r="r" b="b"/>
              <a:pathLst>
                <a:path w="6800724" h="9326880">
                  <a:moveTo>
                    <a:pt x="0" y="219583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581267" y="0"/>
                  </a:lnTo>
                  <a:cubicBezTo>
                    <a:pt x="6702425" y="0"/>
                    <a:pt x="6800724" y="98298"/>
                    <a:pt x="6800724" y="219583"/>
                  </a:cubicBezTo>
                  <a:lnTo>
                    <a:pt x="6800724" y="9107297"/>
                  </a:lnTo>
                  <a:cubicBezTo>
                    <a:pt x="6800724" y="9228582"/>
                    <a:pt x="6702425" y="9326880"/>
                    <a:pt x="6581267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29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6819774" cy="9345930"/>
            </a:xfrm>
            <a:custGeom>
              <a:avLst/>
              <a:gdLst/>
              <a:ahLst/>
              <a:cxnLst/>
              <a:rect l="l" t="t" r="r" b="b"/>
              <a:pathLst>
                <a:path w="6819774" h="9345930">
                  <a:moveTo>
                    <a:pt x="0" y="229108"/>
                  </a:moveTo>
                  <a:cubicBezTo>
                    <a:pt x="0" y="102616"/>
                    <a:pt x="102489" y="0"/>
                    <a:pt x="228981" y="0"/>
                  </a:cubicBezTo>
                  <a:lnTo>
                    <a:pt x="6590792" y="0"/>
                  </a:lnTo>
                  <a:lnTo>
                    <a:pt x="6590792" y="9525"/>
                  </a:lnTo>
                  <a:lnTo>
                    <a:pt x="6590792" y="0"/>
                  </a:lnTo>
                  <a:cubicBezTo>
                    <a:pt x="6717285" y="0"/>
                    <a:pt x="6819774" y="102616"/>
                    <a:pt x="6819774" y="229108"/>
                  </a:cubicBezTo>
                  <a:lnTo>
                    <a:pt x="6810249" y="229108"/>
                  </a:lnTo>
                  <a:lnTo>
                    <a:pt x="6819774" y="229108"/>
                  </a:lnTo>
                  <a:lnTo>
                    <a:pt x="6819774" y="9116822"/>
                  </a:lnTo>
                  <a:lnTo>
                    <a:pt x="6810249" y="9116822"/>
                  </a:lnTo>
                  <a:lnTo>
                    <a:pt x="6819774" y="9116822"/>
                  </a:lnTo>
                  <a:cubicBezTo>
                    <a:pt x="6819774" y="9243314"/>
                    <a:pt x="6717285" y="9345930"/>
                    <a:pt x="6590792" y="9345930"/>
                  </a:cubicBezTo>
                  <a:lnTo>
                    <a:pt x="6590792" y="9336405"/>
                  </a:lnTo>
                  <a:lnTo>
                    <a:pt x="6590792" y="9345930"/>
                  </a:lnTo>
                  <a:lnTo>
                    <a:pt x="228981" y="9345930"/>
                  </a:lnTo>
                  <a:lnTo>
                    <a:pt x="228981" y="9336405"/>
                  </a:lnTo>
                  <a:lnTo>
                    <a:pt x="228981" y="9345930"/>
                  </a:lnTo>
                  <a:cubicBezTo>
                    <a:pt x="102489" y="9345930"/>
                    <a:pt x="0" y="9243314"/>
                    <a:pt x="0" y="9116822"/>
                  </a:cubicBezTo>
                  <a:lnTo>
                    <a:pt x="0" y="229108"/>
                  </a:lnTo>
                  <a:lnTo>
                    <a:pt x="9525" y="229108"/>
                  </a:lnTo>
                  <a:lnTo>
                    <a:pt x="0" y="229108"/>
                  </a:lnTo>
                  <a:moveTo>
                    <a:pt x="19050" y="229108"/>
                  </a:moveTo>
                  <a:lnTo>
                    <a:pt x="19050" y="9116822"/>
                  </a:lnTo>
                  <a:lnTo>
                    <a:pt x="9525" y="9116822"/>
                  </a:lnTo>
                  <a:lnTo>
                    <a:pt x="19050" y="9116822"/>
                  </a:lnTo>
                  <a:cubicBezTo>
                    <a:pt x="19050" y="9232900"/>
                    <a:pt x="113030" y="9326880"/>
                    <a:pt x="228981" y="9326880"/>
                  </a:cubicBezTo>
                  <a:lnTo>
                    <a:pt x="6590792" y="9326880"/>
                  </a:lnTo>
                  <a:cubicBezTo>
                    <a:pt x="6706743" y="9326880"/>
                    <a:pt x="6800724" y="9232773"/>
                    <a:pt x="6800724" y="9116822"/>
                  </a:cubicBezTo>
                  <a:lnTo>
                    <a:pt x="6800724" y="229108"/>
                  </a:lnTo>
                  <a:cubicBezTo>
                    <a:pt x="6800724" y="113030"/>
                    <a:pt x="6706743" y="19050"/>
                    <a:pt x="6590792" y="19050"/>
                  </a:cubicBezTo>
                  <a:lnTo>
                    <a:pt x="228981" y="19050"/>
                  </a:lnTo>
                  <a:lnTo>
                    <a:pt x="228981" y="9525"/>
                  </a:lnTo>
                  <a:lnTo>
                    <a:pt x="228981" y="19050"/>
                  </a:lnTo>
                  <a:cubicBezTo>
                    <a:pt x="113030" y="19050"/>
                    <a:pt x="19050" y="113157"/>
                    <a:pt x="19050" y="229108"/>
                  </a:cubicBezTo>
                  <a:close/>
                </a:path>
              </a:pathLst>
            </a:custGeom>
            <a:solidFill>
              <a:srgbClr val="DCE3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2353087" y="2567940"/>
            <a:ext cx="4332427" cy="44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spc="300">
                <a:solidFill>
                  <a:srgbClr val="4A55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· STOCKOUTS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353087" y="2874645"/>
            <a:ext cx="4332427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1">
                <a:solidFill>
                  <a:srgbClr val="C241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−66%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53087" y="4026027"/>
            <a:ext cx="4332427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C2620"/>
                </a:solidFill>
                <a:latin typeface="Calibri (MS)"/>
                <a:ea typeface="Calibri (MS)"/>
                <a:cs typeface="Calibri (MS)"/>
                <a:sym typeface="Calibri (MS)"/>
              </a:rPr>
              <a:t>less stock on hand when shelves run short; supplier lead time is the </a:t>
            </a:r>
            <a:r>
              <a:rPr lang="en-US" sz="1950" b="1">
                <a:solidFill>
                  <a:srgbClr val="1C26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same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2353087" y="5243093"/>
            <a:ext cx="4332427" cy="1748495"/>
            <a:chOff x="0" y="0"/>
            <a:chExt cx="5776570" cy="2331326"/>
          </a:xfrm>
        </p:grpSpPr>
        <p:sp>
          <p:nvSpPr>
            <p:cNvPr id="41" name="Freeform 41" descr="Notebook chart: on-hand 18.33 vs 53.85 units; lead time 7.45 vs 7.50 days"/>
            <p:cNvSpPr/>
            <p:nvPr/>
          </p:nvSpPr>
          <p:spPr>
            <a:xfrm>
              <a:off x="0" y="0"/>
              <a:ext cx="5776595" cy="2331339"/>
            </a:xfrm>
            <a:custGeom>
              <a:avLst/>
              <a:gdLst/>
              <a:ahLst/>
              <a:cxnLst/>
              <a:rect l="l" t="t" r="r" b="b"/>
              <a:pathLst>
                <a:path w="5776595" h="2331339">
                  <a:moveTo>
                    <a:pt x="0" y="0"/>
                  </a:moveTo>
                  <a:lnTo>
                    <a:pt x="5776595" y="0"/>
                  </a:lnTo>
                  <a:lnTo>
                    <a:pt x="5776595" y="2331339"/>
                  </a:lnTo>
                  <a:lnTo>
                    <a:pt x="0" y="2331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2353087" y="7336917"/>
            <a:ext cx="4332427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During promotions: on hand 18.33 vs 53.85 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2353087" y="7886700"/>
            <a:ext cx="4332427" cy="1028700"/>
            <a:chOff x="0" y="0"/>
            <a:chExt cx="5776570" cy="1371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776595" cy="1371600"/>
            </a:xfrm>
            <a:custGeom>
              <a:avLst/>
              <a:gdLst/>
              <a:ahLst/>
              <a:cxnLst/>
              <a:rect l="l" t="t" r="r" b="b"/>
              <a:pathLst>
                <a:path w="5776595" h="1371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630291" y="0"/>
                  </a:lnTo>
                  <a:cubicBezTo>
                    <a:pt x="5711063" y="0"/>
                    <a:pt x="5776595" y="65532"/>
                    <a:pt x="5776595" y="146304"/>
                  </a:cubicBezTo>
                  <a:lnTo>
                    <a:pt x="5776595" y="1225296"/>
                  </a:lnTo>
                  <a:cubicBezTo>
                    <a:pt x="5776595" y="1306068"/>
                    <a:pt x="5711063" y="1371600"/>
                    <a:pt x="5630291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E6ED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558827" y="7886700"/>
            <a:ext cx="3920947" cy="1028700"/>
            <a:chOff x="0" y="0"/>
            <a:chExt cx="5227930" cy="1371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227930" cy="1371600"/>
            </a:xfrm>
            <a:custGeom>
              <a:avLst/>
              <a:gdLst/>
              <a:ahLst/>
              <a:cxnLst/>
              <a:rect l="l" t="t" r="r" b="b"/>
              <a:pathLst>
                <a:path w="5227930" h="1371600">
                  <a:moveTo>
                    <a:pt x="0" y="0"/>
                  </a:moveTo>
                  <a:lnTo>
                    <a:pt x="5227930" y="0"/>
                  </a:lnTo>
                  <a:lnTo>
                    <a:pt x="522793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4268" b="-242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522793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F4A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 what: </a:t>
              </a:r>
              <a:r>
                <a:rPr lang="en-US" sz="1950">
                  <a:solidFill>
                    <a:srgbClr val="1F4A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 how much is replenished, not which supplier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6733520" y="9504045"/>
            <a:ext cx="3429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>
                <a:solidFill>
                  <a:srgbClr val="6B746E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144780"/>
            <a:ext cx="1696212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F3C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APPENDIX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2920" y="605790"/>
            <a:ext cx="16962120" cy="78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Skewness of Units_Sold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962120" y="107823"/>
            <a:ext cx="365760" cy="36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>
                <a:solidFill>
                  <a:srgbClr val="50505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" y="8612886"/>
            <a:ext cx="5029200" cy="22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6F767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Click a metric during Slide Show to explore it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227445" y="8490585"/>
            <a:ext cx="2152650" cy="781050"/>
            <a:chOff x="0" y="0"/>
            <a:chExt cx="2870200" cy="1041400"/>
          </a:xfrm>
        </p:grpSpPr>
        <p:sp>
          <p:nvSpPr>
            <p:cNvPr id="7" name="Freeform 7">
              <a:hlinkClick r:id="rId2" action="ppaction://hlinksldjump"/>
            </p:cNvPr>
            <p:cNvSpPr/>
            <p:nvPr/>
          </p:nvSpPr>
          <p:spPr>
            <a:xfrm>
              <a:off x="17780" y="17780"/>
              <a:ext cx="2834640" cy="1005840"/>
            </a:xfrm>
            <a:custGeom>
              <a:avLst/>
              <a:gdLst/>
              <a:ahLst/>
              <a:cxnLst/>
              <a:rect l="l" t="t" r="r" b="b"/>
              <a:pathLst>
                <a:path w="2834640" h="1005840">
                  <a:moveTo>
                    <a:pt x="0" y="167640"/>
                  </a:moveTo>
                  <a:cubicBezTo>
                    <a:pt x="0" y="75057"/>
                    <a:pt x="76708" y="0"/>
                    <a:pt x="171450" y="0"/>
                  </a:cubicBezTo>
                  <a:lnTo>
                    <a:pt x="2663190" y="0"/>
                  </a:lnTo>
                  <a:cubicBezTo>
                    <a:pt x="2757805" y="0"/>
                    <a:pt x="2834640" y="75057"/>
                    <a:pt x="2834640" y="167640"/>
                  </a:cubicBezTo>
                  <a:lnTo>
                    <a:pt x="2834640" y="838200"/>
                  </a:lnTo>
                  <a:cubicBezTo>
                    <a:pt x="2834640" y="930783"/>
                    <a:pt x="2757932" y="1005840"/>
                    <a:pt x="2663190" y="1005840"/>
                  </a:cubicBezTo>
                  <a:lnTo>
                    <a:pt x="171450" y="1005840"/>
                  </a:lnTo>
                  <a:cubicBezTo>
                    <a:pt x="76835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>
              <a:hlinkClick r:id="rId2" action="ppaction://hlinksldjump"/>
            </p:cNvPr>
            <p:cNvSpPr/>
            <p:nvPr/>
          </p:nvSpPr>
          <p:spPr>
            <a:xfrm>
              <a:off x="0" y="0"/>
              <a:ext cx="2870200" cy="1041400"/>
            </a:xfrm>
            <a:custGeom>
              <a:avLst/>
              <a:gdLst/>
              <a:ahLst/>
              <a:cxnLst/>
              <a:rect l="l" t="t" r="r" b="b"/>
              <a:pathLst>
                <a:path w="2870200" h="1041400">
                  <a:moveTo>
                    <a:pt x="0" y="185420"/>
                  </a:moveTo>
                  <a:cubicBezTo>
                    <a:pt x="0" y="82677"/>
                    <a:pt x="85090" y="0"/>
                    <a:pt x="189230" y="0"/>
                  </a:cubicBezTo>
                  <a:lnTo>
                    <a:pt x="2680970" y="0"/>
                  </a:lnTo>
                  <a:lnTo>
                    <a:pt x="2680970" y="17780"/>
                  </a:lnTo>
                  <a:lnTo>
                    <a:pt x="2680970" y="0"/>
                  </a:lnTo>
                  <a:cubicBezTo>
                    <a:pt x="2785110" y="0"/>
                    <a:pt x="2870200" y="82677"/>
                    <a:pt x="2870200" y="185420"/>
                  </a:cubicBezTo>
                  <a:lnTo>
                    <a:pt x="2852420" y="185420"/>
                  </a:lnTo>
                  <a:lnTo>
                    <a:pt x="2870200" y="185420"/>
                  </a:lnTo>
                  <a:lnTo>
                    <a:pt x="2870200" y="855980"/>
                  </a:lnTo>
                  <a:lnTo>
                    <a:pt x="2852420" y="855980"/>
                  </a:lnTo>
                  <a:lnTo>
                    <a:pt x="2870200" y="855980"/>
                  </a:lnTo>
                  <a:cubicBezTo>
                    <a:pt x="2870200" y="958723"/>
                    <a:pt x="2785110" y="1041400"/>
                    <a:pt x="2680970" y="1041400"/>
                  </a:cubicBezTo>
                  <a:lnTo>
                    <a:pt x="2680970" y="1023620"/>
                  </a:lnTo>
                  <a:lnTo>
                    <a:pt x="2680970" y="1041400"/>
                  </a:lnTo>
                  <a:lnTo>
                    <a:pt x="189230" y="1041400"/>
                  </a:lnTo>
                  <a:lnTo>
                    <a:pt x="189230" y="1023620"/>
                  </a:lnTo>
                  <a:lnTo>
                    <a:pt x="189230" y="1041400"/>
                  </a:lnTo>
                  <a:cubicBezTo>
                    <a:pt x="85090" y="1041400"/>
                    <a:pt x="0" y="958723"/>
                    <a:pt x="0" y="855980"/>
                  </a:cubicBezTo>
                  <a:lnTo>
                    <a:pt x="0" y="185420"/>
                  </a:lnTo>
                  <a:lnTo>
                    <a:pt x="17780" y="185420"/>
                  </a:lnTo>
                  <a:lnTo>
                    <a:pt x="0" y="185420"/>
                  </a:lnTo>
                  <a:moveTo>
                    <a:pt x="35560" y="185420"/>
                  </a:moveTo>
                  <a:lnTo>
                    <a:pt x="35560" y="855980"/>
                  </a:lnTo>
                  <a:lnTo>
                    <a:pt x="17780" y="855980"/>
                  </a:lnTo>
                  <a:lnTo>
                    <a:pt x="35560" y="855980"/>
                  </a:lnTo>
                  <a:cubicBezTo>
                    <a:pt x="35560" y="938403"/>
                    <a:pt x="104013" y="1005840"/>
                    <a:pt x="189230" y="1005840"/>
                  </a:cubicBezTo>
                  <a:lnTo>
                    <a:pt x="2680970" y="1005840"/>
                  </a:lnTo>
                  <a:cubicBezTo>
                    <a:pt x="2766187" y="1005840"/>
                    <a:pt x="2834640" y="938403"/>
                    <a:pt x="2834640" y="855980"/>
                  </a:cubicBezTo>
                  <a:lnTo>
                    <a:pt x="2834640" y="185420"/>
                  </a:lnTo>
                  <a:cubicBezTo>
                    <a:pt x="2834640" y="102997"/>
                    <a:pt x="2766187" y="35560"/>
                    <a:pt x="2680970" y="35560"/>
                  </a:cubicBezTo>
                  <a:lnTo>
                    <a:pt x="189230" y="35560"/>
                  </a:lnTo>
                  <a:lnTo>
                    <a:pt x="189230" y="17780"/>
                  </a:lnTo>
                  <a:lnTo>
                    <a:pt x="189230" y="35560"/>
                  </a:lnTo>
                  <a:cubicBezTo>
                    <a:pt x="104013" y="35560"/>
                    <a:pt x="35560" y="102997"/>
                    <a:pt x="35560" y="185420"/>
                  </a:cubicBezTo>
                  <a:close/>
                </a:path>
              </a:pathLst>
            </a:custGeom>
            <a:solidFill>
              <a:srgbClr val="E15A3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8702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E15A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96325" y="8490585"/>
            <a:ext cx="2152650" cy="781050"/>
            <a:chOff x="0" y="0"/>
            <a:chExt cx="2870200" cy="1041400"/>
          </a:xfrm>
        </p:grpSpPr>
        <p:sp>
          <p:nvSpPr>
            <p:cNvPr id="11" name="Freeform 11">
              <a:hlinkClick r:id="rId3" action="ppaction://hlinksldjump"/>
            </p:cNvPr>
            <p:cNvSpPr/>
            <p:nvPr/>
          </p:nvSpPr>
          <p:spPr>
            <a:xfrm>
              <a:off x="17780" y="17780"/>
              <a:ext cx="2834640" cy="1005840"/>
            </a:xfrm>
            <a:custGeom>
              <a:avLst/>
              <a:gdLst/>
              <a:ahLst/>
              <a:cxnLst/>
              <a:rect l="l" t="t" r="r" b="b"/>
              <a:pathLst>
                <a:path w="2834640" h="1005840">
                  <a:moveTo>
                    <a:pt x="0" y="167640"/>
                  </a:moveTo>
                  <a:cubicBezTo>
                    <a:pt x="0" y="75057"/>
                    <a:pt x="76708" y="0"/>
                    <a:pt x="171450" y="0"/>
                  </a:cubicBezTo>
                  <a:lnTo>
                    <a:pt x="2663190" y="0"/>
                  </a:lnTo>
                  <a:cubicBezTo>
                    <a:pt x="2757805" y="0"/>
                    <a:pt x="2834640" y="75057"/>
                    <a:pt x="2834640" y="167640"/>
                  </a:cubicBezTo>
                  <a:lnTo>
                    <a:pt x="2834640" y="838200"/>
                  </a:lnTo>
                  <a:cubicBezTo>
                    <a:pt x="2834640" y="930783"/>
                    <a:pt x="2757932" y="1005840"/>
                    <a:pt x="2663190" y="1005840"/>
                  </a:cubicBezTo>
                  <a:lnTo>
                    <a:pt x="171450" y="1005840"/>
                  </a:lnTo>
                  <a:cubicBezTo>
                    <a:pt x="76835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>
              <a:hlinkClick r:id="rId3" action="ppaction://hlinksldjump"/>
            </p:cNvPr>
            <p:cNvSpPr/>
            <p:nvPr/>
          </p:nvSpPr>
          <p:spPr>
            <a:xfrm>
              <a:off x="0" y="0"/>
              <a:ext cx="2870200" cy="1041400"/>
            </a:xfrm>
            <a:custGeom>
              <a:avLst/>
              <a:gdLst/>
              <a:ahLst/>
              <a:cxnLst/>
              <a:rect l="l" t="t" r="r" b="b"/>
              <a:pathLst>
                <a:path w="2870200" h="1041400">
                  <a:moveTo>
                    <a:pt x="0" y="185420"/>
                  </a:moveTo>
                  <a:cubicBezTo>
                    <a:pt x="0" y="82677"/>
                    <a:pt x="85090" y="0"/>
                    <a:pt x="189230" y="0"/>
                  </a:cubicBezTo>
                  <a:lnTo>
                    <a:pt x="2680970" y="0"/>
                  </a:lnTo>
                  <a:lnTo>
                    <a:pt x="2680970" y="17780"/>
                  </a:lnTo>
                  <a:lnTo>
                    <a:pt x="2680970" y="0"/>
                  </a:lnTo>
                  <a:cubicBezTo>
                    <a:pt x="2785110" y="0"/>
                    <a:pt x="2870200" y="82677"/>
                    <a:pt x="2870200" y="185420"/>
                  </a:cubicBezTo>
                  <a:lnTo>
                    <a:pt x="2852420" y="185420"/>
                  </a:lnTo>
                  <a:lnTo>
                    <a:pt x="2870200" y="185420"/>
                  </a:lnTo>
                  <a:lnTo>
                    <a:pt x="2870200" y="855980"/>
                  </a:lnTo>
                  <a:lnTo>
                    <a:pt x="2852420" y="855980"/>
                  </a:lnTo>
                  <a:lnTo>
                    <a:pt x="2870200" y="855980"/>
                  </a:lnTo>
                  <a:cubicBezTo>
                    <a:pt x="2870200" y="958723"/>
                    <a:pt x="2785110" y="1041400"/>
                    <a:pt x="2680970" y="1041400"/>
                  </a:cubicBezTo>
                  <a:lnTo>
                    <a:pt x="2680970" y="1023620"/>
                  </a:lnTo>
                  <a:lnTo>
                    <a:pt x="2680970" y="1041400"/>
                  </a:lnTo>
                  <a:lnTo>
                    <a:pt x="189230" y="1041400"/>
                  </a:lnTo>
                  <a:lnTo>
                    <a:pt x="189230" y="1023620"/>
                  </a:lnTo>
                  <a:lnTo>
                    <a:pt x="189230" y="1041400"/>
                  </a:lnTo>
                  <a:cubicBezTo>
                    <a:pt x="85090" y="1041400"/>
                    <a:pt x="0" y="958723"/>
                    <a:pt x="0" y="855980"/>
                  </a:cubicBezTo>
                  <a:lnTo>
                    <a:pt x="0" y="185420"/>
                  </a:lnTo>
                  <a:lnTo>
                    <a:pt x="17780" y="185420"/>
                  </a:lnTo>
                  <a:lnTo>
                    <a:pt x="0" y="185420"/>
                  </a:lnTo>
                  <a:moveTo>
                    <a:pt x="35560" y="185420"/>
                  </a:moveTo>
                  <a:lnTo>
                    <a:pt x="35560" y="855980"/>
                  </a:lnTo>
                  <a:lnTo>
                    <a:pt x="17780" y="855980"/>
                  </a:lnTo>
                  <a:lnTo>
                    <a:pt x="35560" y="855980"/>
                  </a:lnTo>
                  <a:cubicBezTo>
                    <a:pt x="35560" y="938403"/>
                    <a:pt x="104013" y="1005840"/>
                    <a:pt x="189230" y="1005840"/>
                  </a:cubicBezTo>
                  <a:lnTo>
                    <a:pt x="2680970" y="1005840"/>
                  </a:lnTo>
                  <a:cubicBezTo>
                    <a:pt x="2766187" y="1005840"/>
                    <a:pt x="2834640" y="938403"/>
                    <a:pt x="2834640" y="855980"/>
                  </a:cubicBezTo>
                  <a:lnTo>
                    <a:pt x="2834640" y="185420"/>
                  </a:lnTo>
                  <a:cubicBezTo>
                    <a:pt x="2834640" y="102997"/>
                    <a:pt x="2766187" y="35560"/>
                    <a:pt x="2680970" y="35560"/>
                  </a:cubicBezTo>
                  <a:lnTo>
                    <a:pt x="189230" y="35560"/>
                  </a:lnTo>
                  <a:lnTo>
                    <a:pt x="189230" y="17780"/>
                  </a:lnTo>
                  <a:lnTo>
                    <a:pt x="189230" y="35560"/>
                  </a:lnTo>
                  <a:cubicBezTo>
                    <a:pt x="104013" y="35560"/>
                    <a:pt x="35560" y="102997"/>
                    <a:pt x="35560" y="185420"/>
                  </a:cubicBezTo>
                  <a:close/>
                </a:path>
              </a:pathLst>
            </a:custGeom>
            <a:solidFill>
              <a:srgbClr val="2A9AA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8702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2A9A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Median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65205" y="8490585"/>
            <a:ext cx="2152650" cy="781050"/>
            <a:chOff x="0" y="0"/>
            <a:chExt cx="2870200" cy="1041400"/>
          </a:xfrm>
        </p:grpSpPr>
        <p:sp>
          <p:nvSpPr>
            <p:cNvPr id="15" name="Freeform 15">
              <a:hlinkClick r:id="rId4" action="ppaction://hlinksldjump"/>
            </p:cNvPr>
            <p:cNvSpPr/>
            <p:nvPr/>
          </p:nvSpPr>
          <p:spPr>
            <a:xfrm>
              <a:off x="17780" y="17780"/>
              <a:ext cx="2834640" cy="1005840"/>
            </a:xfrm>
            <a:custGeom>
              <a:avLst/>
              <a:gdLst/>
              <a:ahLst/>
              <a:cxnLst/>
              <a:rect l="l" t="t" r="r" b="b"/>
              <a:pathLst>
                <a:path w="2834640" h="1005840">
                  <a:moveTo>
                    <a:pt x="0" y="167640"/>
                  </a:moveTo>
                  <a:cubicBezTo>
                    <a:pt x="0" y="75057"/>
                    <a:pt x="76708" y="0"/>
                    <a:pt x="171450" y="0"/>
                  </a:cubicBezTo>
                  <a:lnTo>
                    <a:pt x="2663190" y="0"/>
                  </a:lnTo>
                  <a:cubicBezTo>
                    <a:pt x="2757805" y="0"/>
                    <a:pt x="2834640" y="75057"/>
                    <a:pt x="2834640" y="167640"/>
                  </a:cubicBezTo>
                  <a:lnTo>
                    <a:pt x="2834640" y="838200"/>
                  </a:lnTo>
                  <a:cubicBezTo>
                    <a:pt x="2834640" y="930783"/>
                    <a:pt x="2757932" y="1005840"/>
                    <a:pt x="2663190" y="1005840"/>
                  </a:cubicBezTo>
                  <a:lnTo>
                    <a:pt x="171450" y="1005840"/>
                  </a:lnTo>
                  <a:cubicBezTo>
                    <a:pt x="76835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>
              <a:hlinkClick r:id="rId4" action="ppaction://hlinksldjump"/>
            </p:cNvPr>
            <p:cNvSpPr/>
            <p:nvPr/>
          </p:nvSpPr>
          <p:spPr>
            <a:xfrm>
              <a:off x="0" y="0"/>
              <a:ext cx="2870200" cy="1041400"/>
            </a:xfrm>
            <a:custGeom>
              <a:avLst/>
              <a:gdLst/>
              <a:ahLst/>
              <a:cxnLst/>
              <a:rect l="l" t="t" r="r" b="b"/>
              <a:pathLst>
                <a:path w="2870200" h="1041400">
                  <a:moveTo>
                    <a:pt x="0" y="185420"/>
                  </a:moveTo>
                  <a:cubicBezTo>
                    <a:pt x="0" y="82677"/>
                    <a:pt x="85090" y="0"/>
                    <a:pt x="189230" y="0"/>
                  </a:cubicBezTo>
                  <a:lnTo>
                    <a:pt x="2680970" y="0"/>
                  </a:lnTo>
                  <a:lnTo>
                    <a:pt x="2680970" y="17780"/>
                  </a:lnTo>
                  <a:lnTo>
                    <a:pt x="2680970" y="0"/>
                  </a:lnTo>
                  <a:cubicBezTo>
                    <a:pt x="2785110" y="0"/>
                    <a:pt x="2870200" y="82677"/>
                    <a:pt x="2870200" y="185420"/>
                  </a:cubicBezTo>
                  <a:lnTo>
                    <a:pt x="2852420" y="185420"/>
                  </a:lnTo>
                  <a:lnTo>
                    <a:pt x="2870200" y="185420"/>
                  </a:lnTo>
                  <a:lnTo>
                    <a:pt x="2870200" y="855980"/>
                  </a:lnTo>
                  <a:lnTo>
                    <a:pt x="2852420" y="855980"/>
                  </a:lnTo>
                  <a:lnTo>
                    <a:pt x="2870200" y="855980"/>
                  </a:lnTo>
                  <a:cubicBezTo>
                    <a:pt x="2870200" y="958723"/>
                    <a:pt x="2785110" y="1041400"/>
                    <a:pt x="2680970" y="1041400"/>
                  </a:cubicBezTo>
                  <a:lnTo>
                    <a:pt x="2680970" y="1023620"/>
                  </a:lnTo>
                  <a:lnTo>
                    <a:pt x="2680970" y="1041400"/>
                  </a:lnTo>
                  <a:lnTo>
                    <a:pt x="189230" y="1041400"/>
                  </a:lnTo>
                  <a:lnTo>
                    <a:pt x="189230" y="1023620"/>
                  </a:lnTo>
                  <a:lnTo>
                    <a:pt x="189230" y="1041400"/>
                  </a:lnTo>
                  <a:cubicBezTo>
                    <a:pt x="85090" y="1041400"/>
                    <a:pt x="0" y="958723"/>
                    <a:pt x="0" y="855980"/>
                  </a:cubicBezTo>
                  <a:lnTo>
                    <a:pt x="0" y="185420"/>
                  </a:lnTo>
                  <a:lnTo>
                    <a:pt x="17780" y="185420"/>
                  </a:lnTo>
                  <a:lnTo>
                    <a:pt x="0" y="185420"/>
                  </a:lnTo>
                  <a:moveTo>
                    <a:pt x="35560" y="185420"/>
                  </a:moveTo>
                  <a:lnTo>
                    <a:pt x="35560" y="855980"/>
                  </a:lnTo>
                  <a:lnTo>
                    <a:pt x="17780" y="855980"/>
                  </a:lnTo>
                  <a:lnTo>
                    <a:pt x="35560" y="855980"/>
                  </a:lnTo>
                  <a:cubicBezTo>
                    <a:pt x="35560" y="938403"/>
                    <a:pt x="104013" y="1005840"/>
                    <a:pt x="189230" y="1005840"/>
                  </a:cubicBezTo>
                  <a:lnTo>
                    <a:pt x="2680970" y="1005840"/>
                  </a:lnTo>
                  <a:cubicBezTo>
                    <a:pt x="2766187" y="1005840"/>
                    <a:pt x="2834640" y="938403"/>
                    <a:pt x="2834640" y="855980"/>
                  </a:cubicBezTo>
                  <a:lnTo>
                    <a:pt x="2834640" y="185420"/>
                  </a:lnTo>
                  <a:cubicBezTo>
                    <a:pt x="2834640" y="102997"/>
                    <a:pt x="2766187" y="35560"/>
                    <a:pt x="2680970" y="35560"/>
                  </a:cubicBezTo>
                  <a:lnTo>
                    <a:pt x="189230" y="35560"/>
                  </a:lnTo>
                  <a:lnTo>
                    <a:pt x="189230" y="17780"/>
                  </a:lnTo>
                  <a:lnTo>
                    <a:pt x="189230" y="35560"/>
                  </a:lnTo>
                  <a:cubicBezTo>
                    <a:pt x="104013" y="35560"/>
                    <a:pt x="35560" y="102997"/>
                    <a:pt x="35560" y="185420"/>
                  </a:cubicBezTo>
                  <a:close/>
                </a:path>
              </a:pathLst>
            </a:custGeom>
            <a:solidFill>
              <a:srgbClr val="245B3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8702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245B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Skewness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34085" y="8490585"/>
            <a:ext cx="2152650" cy="781050"/>
            <a:chOff x="0" y="0"/>
            <a:chExt cx="2870200" cy="1041400"/>
          </a:xfrm>
        </p:grpSpPr>
        <p:sp>
          <p:nvSpPr>
            <p:cNvPr id="19" name="Freeform 19"/>
            <p:cNvSpPr/>
            <p:nvPr/>
          </p:nvSpPr>
          <p:spPr>
            <a:xfrm>
              <a:off x="17780" y="17780"/>
              <a:ext cx="2834640" cy="1005840"/>
            </a:xfrm>
            <a:custGeom>
              <a:avLst/>
              <a:gdLst/>
              <a:ahLst/>
              <a:cxnLst/>
              <a:rect l="l" t="t" r="r" b="b"/>
              <a:pathLst>
                <a:path w="2834640" h="1005840">
                  <a:moveTo>
                    <a:pt x="0" y="167640"/>
                  </a:moveTo>
                  <a:cubicBezTo>
                    <a:pt x="0" y="75057"/>
                    <a:pt x="76708" y="0"/>
                    <a:pt x="171450" y="0"/>
                  </a:cubicBezTo>
                  <a:lnTo>
                    <a:pt x="2663190" y="0"/>
                  </a:lnTo>
                  <a:cubicBezTo>
                    <a:pt x="2757805" y="0"/>
                    <a:pt x="2834640" y="75057"/>
                    <a:pt x="2834640" y="167640"/>
                  </a:cubicBezTo>
                  <a:lnTo>
                    <a:pt x="2834640" y="838200"/>
                  </a:lnTo>
                  <a:cubicBezTo>
                    <a:pt x="2834640" y="930783"/>
                    <a:pt x="2757932" y="1005840"/>
                    <a:pt x="2663190" y="1005840"/>
                  </a:cubicBezTo>
                  <a:lnTo>
                    <a:pt x="171450" y="1005840"/>
                  </a:lnTo>
                  <a:cubicBezTo>
                    <a:pt x="76835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2870200" cy="1041400"/>
            </a:xfrm>
            <a:custGeom>
              <a:avLst/>
              <a:gdLst/>
              <a:ahLst/>
              <a:cxnLst/>
              <a:rect l="l" t="t" r="r" b="b"/>
              <a:pathLst>
                <a:path w="2870200" h="1041400">
                  <a:moveTo>
                    <a:pt x="0" y="185420"/>
                  </a:moveTo>
                  <a:cubicBezTo>
                    <a:pt x="0" y="82677"/>
                    <a:pt x="85090" y="0"/>
                    <a:pt x="189230" y="0"/>
                  </a:cubicBezTo>
                  <a:lnTo>
                    <a:pt x="2680970" y="0"/>
                  </a:lnTo>
                  <a:lnTo>
                    <a:pt x="2680970" y="17780"/>
                  </a:lnTo>
                  <a:lnTo>
                    <a:pt x="2680970" y="0"/>
                  </a:lnTo>
                  <a:cubicBezTo>
                    <a:pt x="2785110" y="0"/>
                    <a:pt x="2870200" y="82677"/>
                    <a:pt x="2870200" y="185420"/>
                  </a:cubicBezTo>
                  <a:lnTo>
                    <a:pt x="2852420" y="185420"/>
                  </a:lnTo>
                  <a:lnTo>
                    <a:pt x="2870200" y="185420"/>
                  </a:lnTo>
                  <a:lnTo>
                    <a:pt x="2870200" y="855980"/>
                  </a:lnTo>
                  <a:lnTo>
                    <a:pt x="2852420" y="855980"/>
                  </a:lnTo>
                  <a:lnTo>
                    <a:pt x="2870200" y="855980"/>
                  </a:lnTo>
                  <a:cubicBezTo>
                    <a:pt x="2870200" y="958723"/>
                    <a:pt x="2785110" y="1041400"/>
                    <a:pt x="2680970" y="1041400"/>
                  </a:cubicBezTo>
                  <a:lnTo>
                    <a:pt x="2680970" y="1023620"/>
                  </a:lnTo>
                  <a:lnTo>
                    <a:pt x="2680970" y="1041400"/>
                  </a:lnTo>
                  <a:lnTo>
                    <a:pt x="189230" y="1041400"/>
                  </a:lnTo>
                  <a:lnTo>
                    <a:pt x="189230" y="1023620"/>
                  </a:lnTo>
                  <a:lnTo>
                    <a:pt x="189230" y="1041400"/>
                  </a:lnTo>
                  <a:cubicBezTo>
                    <a:pt x="85090" y="1041400"/>
                    <a:pt x="0" y="958723"/>
                    <a:pt x="0" y="855980"/>
                  </a:cubicBezTo>
                  <a:lnTo>
                    <a:pt x="0" y="185420"/>
                  </a:lnTo>
                  <a:lnTo>
                    <a:pt x="17780" y="185420"/>
                  </a:lnTo>
                  <a:lnTo>
                    <a:pt x="0" y="185420"/>
                  </a:lnTo>
                  <a:moveTo>
                    <a:pt x="35560" y="185420"/>
                  </a:moveTo>
                  <a:lnTo>
                    <a:pt x="35560" y="855980"/>
                  </a:lnTo>
                  <a:lnTo>
                    <a:pt x="17780" y="855980"/>
                  </a:lnTo>
                  <a:lnTo>
                    <a:pt x="35560" y="855980"/>
                  </a:lnTo>
                  <a:cubicBezTo>
                    <a:pt x="35560" y="938403"/>
                    <a:pt x="104013" y="1005840"/>
                    <a:pt x="189230" y="1005840"/>
                  </a:cubicBezTo>
                  <a:lnTo>
                    <a:pt x="2680970" y="1005840"/>
                  </a:lnTo>
                  <a:cubicBezTo>
                    <a:pt x="2766187" y="1005840"/>
                    <a:pt x="2834640" y="938403"/>
                    <a:pt x="2834640" y="855980"/>
                  </a:cubicBezTo>
                  <a:lnTo>
                    <a:pt x="2834640" y="185420"/>
                  </a:lnTo>
                  <a:cubicBezTo>
                    <a:pt x="2834640" y="102997"/>
                    <a:pt x="2766187" y="35560"/>
                    <a:pt x="2680970" y="35560"/>
                  </a:cubicBezTo>
                  <a:lnTo>
                    <a:pt x="189230" y="35560"/>
                  </a:lnTo>
                  <a:lnTo>
                    <a:pt x="189230" y="17780"/>
                  </a:lnTo>
                  <a:lnTo>
                    <a:pt x="189230" y="35560"/>
                  </a:lnTo>
                  <a:cubicBezTo>
                    <a:pt x="104013" y="35560"/>
                    <a:pt x="35560" y="102997"/>
                    <a:pt x="35560" y="185420"/>
                  </a:cubicBezTo>
                  <a:close/>
                </a:path>
              </a:pathLst>
            </a:custGeom>
            <a:solidFill>
              <a:srgbClr val="1F3C6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2870200" cy="1069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F3C6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Right Tail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77240" y="9028557"/>
            <a:ext cx="4754880" cy="18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320">
                <a:solidFill>
                  <a:srgbClr val="6F7670"/>
                </a:solidFill>
                <a:latin typeface="Calibri (MS)"/>
                <a:ea typeface="Calibri (MS)"/>
                <a:cs typeface="Calibri (MS)"/>
                <a:sym typeface="Calibri (MS)"/>
              </a:rPr>
              <a:t>PowerPoint interactivity works in Slide Show mode.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17220" y="1577340"/>
            <a:ext cx="16527780" cy="6926580"/>
            <a:chOff x="0" y="0"/>
            <a:chExt cx="22037040" cy="9235440"/>
          </a:xfrm>
        </p:grpSpPr>
        <p:sp>
          <p:nvSpPr>
            <p:cNvPr id="24" name="Freeform 24" descr="skewness_units_sold_tidy.png"/>
            <p:cNvSpPr/>
            <p:nvPr/>
          </p:nvSpPr>
          <p:spPr>
            <a:xfrm>
              <a:off x="0" y="0"/>
              <a:ext cx="22037039" cy="9235440"/>
            </a:xfrm>
            <a:custGeom>
              <a:avLst/>
              <a:gdLst/>
              <a:ahLst/>
              <a:cxnLst/>
              <a:rect l="l" t="t" r="r" b="b"/>
              <a:pathLst>
                <a:path w="22037039" h="9235440">
                  <a:moveTo>
                    <a:pt x="0" y="0"/>
                  </a:moveTo>
                  <a:lnTo>
                    <a:pt x="22037039" y="0"/>
                  </a:lnTo>
                  <a:lnTo>
                    <a:pt x="22037039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191" b="-31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95460" y="0"/>
            <a:ext cx="8892083" cy="10287000"/>
            <a:chOff x="0" y="0"/>
            <a:chExt cx="11856110" cy="13716000"/>
          </a:xfrm>
        </p:grpSpPr>
        <p:sp>
          <p:nvSpPr>
            <p:cNvPr id="3" name="Freeform 3" descr="media/cover.jpeg"/>
            <p:cNvSpPr/>
            <p:nvPr/>
          </p:nvSpPr>
          <p:spPr>
            <a:xfrm>
              <a:off x="0" y="0"/>
              <a:ext cx="11856085" cy="13716000"/>
            </a:xfrm>
            <a:custGeom>
              <a:avLst/>
              <a:gdLst/>
              <a:ahLst/>
              <a:cxnLst/>
              <a:rect l="l" t="t" r="r" b="b"/>
              <a:pathLst>
                <a:path w="11856085" h="13716000">
                  <a:moveTo>
                    <a:pt x="0" y="0"/>
                  </a:moveTo>
                  <a:lnTo>
                    <a:pt x="11856085" y="0"/>
                  </a:lnTo>
                  <a:lnTo>
                    <a:pt x="1185608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01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22960" y="754380"/>
            <a:ext cx="1851660" cy="548640"/>
            <a:chOff x="0" y="0"/>
            <a:chExt cx="2468880" cy="731520"/>
          </a:xfrm>
        </p:grpSpPr>
        <p:sp>
          <p:nvSpPr>
            <p:cNvPr id="5" name="Freeform 5" descr="media/panda_white.png"/>
            <p:cNvSpPr/>
            <p:nvPr/>
          </p:nvSpPr>
          <p:spPr>
            <a:xfrm>
              <a:off x="0" y="0"/>
              <a:ext cx="2468880" cy="731520"/>
            </a:xfrm>
            <a:custGeom>
              <a:avLst/>
              <a:gdLst/>
              <a:ahLst/>
              <a:cxnLst/>
              <a:rect l="l" t="t" r="r" b="b"/>
              <a:pathLst>
                <a:path w="2468880" h="731520">
                  <a:moveTo>
                    <a:pt x="0" y="0"/>
                  </a:moveTo>
                  <a:lnTo>
                    <a:pt x="2468880" y="0"/>
                  </a:lnTo>
                  <a:lnTo>
                    <a:pt x="246888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8" r="-1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22960" y="2371725"/>
            <a:ext cx="795528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 spc="225">
                <a:solidFill>
                  <a:srgbClr val="C9E3A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 · DATA PREPARATION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2960" y="2939415"/>
            <a:ext cx="8092440" cy="261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Preparation &amp; Modeling Readiness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2960" y="5772150"/>
            <a:ext cx="8092440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E3EEE6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Fresh Food Demand &amp; Inventory Optimization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2960" y="7995285"/>
            <a:ext cx="809244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9D9CD"/>
                </a:solidFill>
                <a:latin typeface="Calibri (MS)"/>
                <a:ea typeface="Calibri (MS)"/>
                <a:cs typeface="Calibri (MS)"/>
                <a:sym typeface="Calibri (MS)"/>
              </a:rPr>
              <a:t>PANDA Team · EWA · InnovatiCS · Group 10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22960" y="8915400"/>
            <a:ext cx="1303020" cy="562356"/>
            <a:chOff x="0" y="0"/>
            <a:chExt cx="1737360" cy="749808"/>
          </a:xfrm>
        </p:grpSpPr>
        <p:sp>
          <p:nvSpPr>
            <p:cNvPr id="11" name="Freeform 11" descr="media/savola_white.png"/>
            <p:cNvSpPr/>
            <p:nvPr/>
          </p:nvSpPr>
          <p:spPr>
            <a:xfrm>
              <a:off x="0" y="0"/>
              <a:ext cx="1737360" cy="749808"/>
            </a:xfrm>
            <a:custGeom>
              <a:avLst/>
              <a:gdLst/>
              <a:ahLst/>
              <a:cxnLst/>
              <a:rect l="l" t="t" r="r" b="b"/>
              <a:pathLst>
                <a:path w="1737360" h="749808">
                  <a:moveTo>
                    <a:pt x="0" y="0"/>
                  </a:moveTo>
                  <a:lnTo>
                    <a:pt x="1737360" y="0"/>
                  </a:lnTo>
                  <a:lnTo>
                    <a:pt x="1737360" y="749808"/>
                  </a:lnTo>
                  <a:lnTo>
                    <a:pt x="0" y="749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14" b="-5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19020" y="576072"/>
            <a:ext cx="1371600" cy="404622"/>
            <a:chOff x="0" y="0"/>
            <a:chExt cx="1828800" cy="539496"/>
          </a:xfrm>
        </p:grpSpPr>
        <p:sp>
          <p:nvSpPr>
            <p:cNvPr id="3" name="Freeform 3" descr="media/panda_color.png"/>
            <p:cNvSpPr/>
            <p:nvPr/>
          </p:nvSpPr>
          <p:spPr>
            <a:xfrm>
              <a:off x="0" y="0"/>
              <a:ext cx="1828800" cy="539496"/>
            </a:xfrm>
            <a:custGeom>
              <a:avLst/>
              <a:gdLst/>
              <a:ahLst/>
              <a:cxnLst/>
              <a:rect l="l" t="t" r="r" b="b"/>
              <a:pathLst>
                <a:path w="1828800" h="539496">
                  <a:moveTo>
                    <a:pt x="0" y="0"/>
                  </a:moveTo>
                  <a:lnTo>
                    <a:pt x="1828800" y="0"/>
                  </a:lnTo>
                  <a:lnTo>
                    <a:pt x="1828800" y="539496"/>
                  </a:lnTo>
                  <a:lnTo>
                    <a:pt x="0" y="539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1" b="-6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568928" y="521208"/>
            <a:ext cx="1069848" cy="466344"/>
            <a:chOff x="0" y="0"/>
            <a:chExt cx="1426464" cy="621792"/>
          </a:xfrm>
        </p:grpSpPr>
        <p:sp>
          <p:nvSpPr>
            <p:cNvPr id="5" name="Freeform 5" descr="media/savola_color.png"/>
            <p:cNvSpPr/>
            <p:nvPr/>
          </p:nvSpPr>
          <p:spPr>
            <a:xfrm>
              <a:off x="0" y="0"/>
              <a:ext cx="1426464" cy="621792"/>
            </a:xfrm>
            <a:custGeom>
              <a:avLst/>
              <a:gdLst/>
              <a:ahLst/>
              <a:cxnLst/>
              <a:rect l="l" t="t" r="r" b="b"/>
              <a:pathLst>
                <a:path w="1426464" h="621792">
                  <a:moveTo>
                    <a:pt x="0" y="0"/>
                  </a:moveTo>
                  <a:lnTo>
                    <a:pt x="1426464" y="0"/>
                  </a:lnTo>
                  <a:lnTo>
                    <a:pt x="1426464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" b="-1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960" y="9601200"/>
            <a:ext cx="13030200" cy="342900"/>
            <a:chOff x="0" y="0"/>
            <a:chExt cx="17373600" cy="457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373600" cy="457200"/>
            </a:xfrm>
            <a:custGeom>
              <a:avLst/>
              <a:gdLst/>
              <a:ahLst/>
              <a:cxnLst/>
              <a:rect l="l" t="t" r="r" b="b"/>
              <a:pathLst>
                <a:path w="17373600" h="457200">
                  <a:moveTo>
                    <a:pt x="0" y="0"/>
                  </a:moveTo>
                  <a:lnTo>
                    <a:pt x="17373600" y="0"/>
                  </a:lnTo>
                  <a:lnTo>
                    <a:pt x="17373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90431" b="-6904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7373600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F68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Source: PANDA.csv (1,000,000 records × 26 columns) · Phase 3 notebook · synthetic academic dataset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2960" y="576072"/>
            <a:ext cx="10972800" cy="411480"/>
            <a:chOff x="0" y="0"/>
            <a:chExt cx="14630400" cy="54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69601" b="-4696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FOUND IN THE DATA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22960" y="1078230"/>
            <a:ext cx="16596360" cy="152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1B2A22"/>
                </a:solidFill>
                <a:latin typeface="Georgia"/>
                <a:ea typeface="Georgia"/>
                <a:cs typeface="Georgia"/>
                <a:sym typeface="Georgia"/>
              </a:rPr>
              <a:t>From 1,000,000 raw records to 871,314 we can trust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38200" y="2895600"/>
            <a:ext cx="5280660" cy="4114800"/>
            <a:chOff x="0" y="0"/>
            <a:chExt cx="7040880" cy="548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40880" cy="5486400"/>
            </a:xfrm>
            <a:custGeom>
              <a:avLst/>
              <a:gdLst/>
              <a:ahLst/>
              <a:cxnLst/>
              <a:rect l="l" t="t" r="r" b="b"/>
              <a:pathLst>
                <a:path w="7040880" h="5486400">
                  <a:moveTo>
                    <a:pt x="0" y="0"/>
                  </a:moveTo>
                  <a:lnTo>
                    <a:pt x="7040880" y="0"/>
                  </a:lnTo>
                  <a:lnTo>
                    <a:pt x="704088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45580" y="2895600"/>
            <a:ext cx="5280660" cy="4114800"/>
            <a:chOff x="0" y="0"/>
            <a:chExt cx="7040880" cy="548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40880" cy="5486400"/>
            </a:xfrm>
            <a:custGeom>
              <a:avLst/>
              <a:gdLst/>
              <a:ahLst/>
              <a:cxnLst/>
              <a:rect l="l" t="t" r="r" b="b"/>
              <a:pathLst>
                <a:path w="7040880" h="5486400">
                  <a:moveTo>
                    <a:pt x="0" y="0"/>
                  </a:moveTo>
                  <a:lnTo>
                    <a:pt x="7040880" y="0"/>
                  </a:lnTo>
                  <a:lnTo>
                    <a:pt x="704088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61520" y="2895600"/>
            <a:ext cx="5280660" cy="4114800"/>
            <a:chOff x="0" y="0"/>
            <a:chExt cx="7040880" cy="548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40880" cy="5486400"/>
            </a:xfrm>
            <a:custGeom>
              <a:avLst/>
              <a:gdLst/>
              <a:ahLst/>
              <a:cxnLst/>
              <a:rect l="l" t="t" r="r" b="b"/>
              <a:pathLst>
                <a:path w="7040880" h="5486400">
                  <a:moveTo>
                    <a:pt x="0" y="0"/>
                  </a:moveTo>
                  <a:lnTo>
                    <a:pt x="7040880" y="0"/>
                  </a:lnTo>
                  <a:lnTo>
                    <a:pt x="704088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2880360"/>
            <a:ext cx="5280660" cy="4114800"/>
            <a:chOff x="0" y="0"/>
            <a:chExt cx="7040880" cy="548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40880" cy="5486400"/>
            </a:xfrm>
            <a:custGeom>
              <a:avLst/>
              <a:gdLst/>
              <a:ahLst/>
              <a:cxnLst/>
              <a:rect l="l" t="t" r="r" b="b"/>
              <a:pathLst>
                <a:path w="7040880" h="5486400">
                  <a:moveTo>
                    <a:pt x="0" y="0"/>
                  </a:moveTo>
                  <a:lnTo>
                    <a:pt x="7040880" y="0"/>
                  </a:lnTo>
                  <a:lnTo>
                    <a:pt x="704088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4440" y="3223260"/>
            <a:ext cx="4457700" cy="1234440"/>
            <a:chOff x="0" y="0"/>
            <a:chExt cx="5943600" cy="16459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43600" cy="1645920"/>
            </a:xfrm>
            <a:custGeom>
              <a:avLst/>
              <a:gdLst/>
              <a:ahLst/>
              <a:cxnLst/>
              <a:rect l="l" t="t" r="r" b="b"/>
              <a:pathLst>
                <a:path w="5943600" h="1645920">
                  <a:moveTo>
                    <a:pt x="0" y="0"/>
                  </a:moveTo>
                  <a:lnTo>
                    <a:pt x="5943600" y="0"/>
                  </a:lnTo>
                  <a:lnTo>
                    <a:pt x="5943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362" b="-203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94360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1F5C3B"/>
                  </a:solidFill>
                  <a:latin typeface="Georgia"/>
                  <a:ea typeface="Georgia"/>
                  <a:cs typeface="Georgia"/>
                  <a:sym typeface="Georgia"/>
                </a:rPr>
                <a:t>128,686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4440" y="4663440"/>
            <a:ext cx="4457700" cy="548640"/>
            <a:chOff x="0" y="0"/>
            <a:chExt cx="5943600" cy="731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59436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B2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Records from the future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34440" y="5311140"/>
            <a:ext cx="445770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22"/>
                </a:solidFill>
                <a:latin typeface="Calibri (MS)"/>
                <a:ea typeface="Calibri (MS)"/>
                <a:cs typeface="Calibri (MS)"/>
                <a:sym typeface="Calibri (MS)"/>
              </a:rPr>
              <a:t>Dated after 27 Sep 2026, so no real sales exist yet. Excluded.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515100" y="2880360"/>
            <a:ext cx="5280660" cy="4114800"/>
            <a:chOff x="0" y="0"/>
            <a:chExt cx="7040880" cy="548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040880" cy="5486400"/>
            </a:xfrm>
            <a:custGeom>
              <a:avLst/>
              <a:gdLst/>
              <a:ahLst/>
              <a:cxnLst/>
              <a:rect l="l" t="t" r="r" b="b"/>
              <a:pathLst>
                <a:path w="7040880" h="5486400">
                  <a:moveTo>
                    <a:pt x="0" y="0"/>
                  </a:moveTo>
                  <a:lnTo>
                    <a:pt x="7040880" y="0"/>
                  </a:lnTo>
                  <a:lnTo>
                    <a:pt x="704088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926580" y="3223260"/>
            <a:ext cx="4457700" cy="1234440"/>
            <a:chOff x="0" y="0"/>
            <a:chExt cx="5943600" cy="16459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943600" cy="1645920"/>
            </a:xfrm>
            <a:custGeom>
              <a:avLst/>
              <a:gdLst/>
              <a:ahLst/>
              <a:cxnLst/>
              <a:rect l="l" t="t" r="r" b="b"/>
              <a:pathLst>
                <a:path w="5943600" h="1645920">
                  <a:moveTo>
                    <a:pt x="0" y="0"/>
                  </a:moveTo>
                  <a:lnTo>
                    <a:pt x="5943600" y="0"/>
                  </a:lnTo>
                  <a:lnTo>
                    <a:pt x="5943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362" b="-203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594360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D9482B"/>
                  </a:solidFill>
                  <a:latin typeface="Georgia"/>
                  <a:ea typeface="Georgia"/>
                  <a:cs typeface="Georgia"/>
                  <a:sym typeface="Georgia"/>
                </a:rPr>
                <a:t>9,825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926580" y="4663440"/>
            <a:ext cx="4457700" cy="548640"/>
            <a:chOff x="0" y="0"/>
            <a:chExt cx="594360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59436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B2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Inflated sales records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926580" y="5311140"/>
            <a:ext cx="445770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22"/>
                </a:solidFill>
                <a:latin typeface="Calibri (MS)"/>
                <a:ea typeface="Calibri (MS)"/>
                <a:cs typeface="Calibri (MS)"/>
                <a:sym typeface="Calibri (MS)"/>
              </a:rPr>
              <a:t>Units sold were far higher than the money collected implies. Corrected.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2146280" y="2880360"/>
            <a:ext cx="5280660" cy="4114800"/>
            <a:chOff x="0" y="0"/>
            <a:chExt cx="7040880" cy="5486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040880" cy="5486400"/>
            </a:xfrm>
            <a:custGeom>
              <a:avLst/>
              <a:gdLst/>
              <a:ahLst/>
              <a:cxnLst/>
              <a:rect l="l" t="t" r="r" b="b"/>
              <a:pathLst>
                <a:path w="7040880" h="5486400">
                  <a:moveTo>
                    <a:pt x="0" y="0"/>
                  </a:moveTo>
                  <a:lnTo>
                    <a:pt x="7040880" y="0"/>
                  </a:lnTo>
                  <a:lnTo>
                    <a:pt x="704088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618720" y="3223260"/>
            <a:ext cx="4457700" cy="1234440"/>
            <a:chOff x="0" y="0"/>
            <a:chExt cx="5943600" cy="16459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943600" cy="1645920"/>
            </a:xfrm>
            <a:custGeom>
              <a:avLst/>
              <a:gdLst/>
              <a:ahLst/>
              <a:cxnLst/>
              <a:rect l="l" t="t" r="r" b="b"/>
              <a:pathLst>
                <a:path w="5943600" h="1645920">
                  <a:moveTo>
                    <a:pt x="0" y="0"/>
                  </a:moveTo>
                  <a:lnTo>
                    <a:pt x="5943600" y="0"/>
                  </a:lnTo>
                  <a:lnTo>
                    <a:pt x="5943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362" b="-2036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594360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D9482B"/>
                  </a:solidFill>
                  <a:latin typeface="Georgia"/>
                  <a:ea typeface="Georgia"/>
                  <a:cs typeface="Georgia"/>
                  <a:sym typeface="Georgia"/>
                </a:rPr>
                <a:t>964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618720" y="4663440"/>
            <a:ext cx="4457700" cy="548640"/>
            <a:chOff x="0" y="0"/>
            <a:chExt cx="594360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594360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B2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Hidden stockouts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618720" y="5311140"/>
            <a:ext cx="445770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22"/>
                </a:solidFill>
                <a:latin typeface="Calibri (MS)"/>
                <a:ea typeface="Calibri (MS)"/>
                <a:cs typeface="Calibri (MS)"/>
                <a:sym typeface="Calibri (MS)"/>
              </a:rPr>
              <a:t>Shelf stock was zero but no stockout was recorded. Relabelled.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822960" y="7421880"/>
            <a:ext cx="16664940" cy="1783080"/>
            <a:chOff x="0" y="0"/>
            <a:chExt cx="22219920" cy="23774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219920" cy="2377440"/>
            </a:xfrm>
            <a:custGeom>
              <a:avLst/>
              <a:gdLst/>
              <a:ahLst/>
              <a:cxnLst/>
              <a:rect l="l" t="t" r="r" b="b"/>
              <a:pathLst>
                <a:path w="22219920" h="2377440">
                  <a:moveTo>
                    <a:pt x="0" y="0"/>
                  </a:moveTo>
                  <a:lnTo>
                    <a:pt x="22219920" y="0"/>
                  </a:lnTo>
                  <a:lnTo>
                    <a:pt x="22219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F5C3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22960" y="7406640"/>
            <a:ext cx="16664940" cy="1783080"/>
            <a:chOff x="0" y="0"/>
            <a:chExt cx="22219920" cy="23774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219920" cy="2377440"/>
            </a:xfrm>
            <a:custGeom>
              <a:avLst/>
              <a:gdLst/>
              <a:ahLst/>
              <a:cxnLst/>
              <a:rect l="l" t="t" r="r" b="b"/>
              <a:pathLst>
                <a:path w="22219920" h="2377440">
                  <a:moveTo>
                    <a:pt x="0" y="0"/>
                  </a:moveTo>
                  <a:lnTo>
                    <a:pt x="22219920" y="0"/>
                  </a:lnTo>
                  <a:lnTo>
                    <a:pt x="22219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1F5C3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34440" y="7406640"/>
            <a:ext cx="15841980" cy="1783080"/>
            <a:chOff x="0" y="0"/>
            <a:chExt cx="21122640" cy="23774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122639" cy="2377440"/>
            </a:xfrm>
            <a:custGeom>
              <a:avLst/>
              <a:gdLst/>
              <a:ahLst/>
              <a:cxnLst/>
              <a:rect l="l" t="t" r="r" b="b"/>
              <a:pathLst>
                <a:path w="21122639" h="2377440">
                  <a:moveTo>
                    <a:pt x="0" y="0"/>
                  </a:moveTo>
                  <a:lnTo>
                    <a:pt x="21122639" y="0"/>
                  </a:lnTo>
                  <a:lnTo>
                    <a:pt x="21122639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3117" b="-1231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21122640" cy="2444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2B8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  </a:t>
              </a: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Left uncleaned, the model would over-forecast demand, we would over-order, and fresh food waste would go up.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6962120" y="9581388"/>
            <a:ext cx="502920" cy="33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6B62"/>
                </a:solidFill>
                <a:latin typeface="Calibri (MS)"/>
                <a:ea typeface="Calibri (MS)"/>
                <a:cs typeface="Calibri (MS)"/>
                <a:sym typeface="Calibri (MS)"/>
              </a:rPr>
              <a:t>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9601200"/>
            <a:ext cx="13716000" cy="411480"/>
            <a:chOff x="0" y="0"/>
            <a:chExt cx="182880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548640"/>
            </a:xfrm>
            <a:custGeom>
              <a:avLst/>
              <a:gdLst/>
              <a:ahLst/>
              <a:cxnLst/>
              <a:rect l="l" t="t" r="r" b="b"/>
              <a:pathLst>
                <a:path w="18288000" h="54864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9501" b="-5995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Source: PANDA.csv (1,000,000 records x 26 columns) · Phase 3 notebook · synthetic academic dataset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576072"/>
            <a:ext cx="10972800" cy="411480"/>
            <a:chOff x="0" y="0"/>
            <a:chExt cx="14630400" cy="548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WE FIXED IT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2960" y="1078230"/>
            <a:ext cx="16596360" cy="152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1B2A22"/>
                </a:solidFill>
                <a:latin typeface="Georgia"/>
                <a:ea typeface="Georgia"/>
                <a:cs typeface="Georgia"/>
                <a:sym typeface="Georgia"/>
              </a:rPr>
              <a:t>We fixed three data problems without throwing away real business signals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804160" y="2743200"/>
            <a:ext cx="5280660" cy="6515100"/>
            <a:chOff x="0" y="0"/>
            <a:chExt cx="7040880" cy="8686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40880" cy="8686800"/>
            </a:xfrm>
            <a:custGeom>
              <a:avLst/>
              <a:gdLst/>
              <a:ahLst/>
              <a:cxnLst/>
              <a:rect l="l" t="t" r="r" b="b"/>
              <a:pathLst>
                <a:path w="7040880" h="8686800">
                  <a:moveTo>
                    <a:pt x="0" y="0"/>
                  </a:moveTo>
                  <a:lnTo>
                    <a:pt x="7040880" y="0"/>
                  </a:lnTo>
                  <a:lnTo>
                    <a:pt x="7040880" y="8686800"/>
                  </a:lnTo>
                  <a:lnTo>
                    <a:pt x="0" y="86868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15640" y="3017520"/>
            <a:ext cx="4457700" cy="548640"/>
            <a:chOff x="0" y="0"/>
            <a:chExt cx="594360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5943600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5C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values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15640" y="3703320"/>
            <a:ext cx="1783080" cy="822960"/>
            <a:chOff x="0" y="0"/>
            <a:chExt cx="2377440" cy="1097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77440" cy="1097280"/>
            </a:xfrm>
            <a:custGeom>
              <a:avLst/>
              <a:gdLst/>
              <a:ahLst/>
              <a:cxnLst/>
              <a:rect l="l" t="t" r="r" b="b"/>
              <a:pathLst>
                <a:path w="2377440" h="1097280">
                  <a:moveTo>
                    <a:pt x="0" y="0"/>
                  </a:moveTo>
                  <a:lnTo>
                    <a:pt x="2377440" y="0"/>
                  </a:lnTo>
                  <a:lnTo>
                    <a:pt x="237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r="-9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37744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>
                  <a:solidFill>
                    <a:srgbClr val="D9482B"/>
                  </a:solidFill>
                  <a:latin typeface="Georgia"/>
                  <a:ea typeface="Georgia"/>
                  <a:cs typeface="Georgia"/>
                  <a:sym typeface="Georgia"/>
                </a:rPr>
                <a:t>8%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98720" y="3703320"/>
            <a:ext cx="685800" cy="822960"/>
            <a:chOff x="0" y="0"/>
            <a:chExt cx="914400" cy="1097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1097280"/>
            </a:xfrm>
            <a:custGeom>
              <a:avLst/>
              <a:gdLst/>
              <a:ahLst/>
              <a:cxnLst/>
              <a:rect l="l" t="t" r="r" b="b"/>
              <a:pathLst>
                <a:path w="914400" h="1097280">
                  <a:moveTo>
                    <a:pt x="0" y="0"/>
                  </a:moveTo>
                  <a:lnTo>
                    <a:pt x="914400" y="0"/>
                  </a:lnTo>
                  <a:lnTo>
                    <a:pt x="91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914400" cy="1183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821680" y="3703320"/>
            <a:ext cx="1783080" cy="822960"/>
            <a:chOff x="0" y="0"/>
            <a:chExt cx="237744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77440" cy="1097280"/>
            </a:xfrm>
            <a:custGeom>
              <a:avLst/>
              <a:gdLst/>
              <a:ahLst/>
              <a:cxnLst/>
              <a:rect l="l" t="t" r="r" b="b"/>
              <a:pathLst>
                <a:path w="2377440" h="1097280">
                  <a:moveTo>
                    <a:pt x="0" y="0"/>
                  </a:moveTo>
                  <a:lnTo>
                    <a:pt x="2377440" y="0"/>
                  </a:lnTo>
                  <a:lnTo>
                    <a:pt x="237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r="-9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237744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>
                  <a:solidFill>
                    <a:srgbClr val="1F5C3B"/>
                  </a:solidFill>
                  <a:latin typeface="Georgia"/>
                  <a:ea typeface="Georgia"/>
                  <a:cs typeface="Georgia"/>
                  <a:sym typeface="Georgia"/>
                </a:rPr>
                <a:t>0%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15640" y="4526280"/>
            <a:ext cx="1783080" cy="342900"/>
            <a:chOff x="0" y="0"/>
            <a:chExt cx="2377440" cy="45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77440" cy="457200"/>
            </a:xfrm>
            <a:custGeom>
              <a:avLst/>
              <a:gdLst/>
              <a:ahLst/>
              <a:cxnLst/>
              <a:rect l="l" t="t" r="r" b="b"/>
              <a:pathLst>
                <a:path w="2377440" h="45720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22" b="-513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37744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5A6B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821680" y="4526280"/>
            <a:ext cx="1783080" cy="342900"/>
            <a:chOff x="0" y="0"/>
            <a:chExt cx="2377440" cy="457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377440" cy="457200"/>
            </a:xfrm>
            <a:custGeom>
              <a:avLst/>
              <a:gdLst/>
              <a:ahLst/>
              <a:cxnLst/>
              <a:rect l="l" t="t" r="r" b="b"/>
              <a:pathLst>
                <a:path w="2377440" h="45720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22" b="-513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37744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5A6B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215640" y="4884420"/>
            <a:ext cx="4457700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5A6B6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of supplier fill-rate values were empty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215640" y="5425440"/>
            <a:ext cx="4183380" cy="175260"/>
            <a:chOff x="0" y="0"/>
            <a:chExt cx="5577840" cy="2336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577840" cy="233680"/>
            </a:xfrm>
            <a:custGeom>
              <a:avLst/>
              <a:gdLst/>
              <a:ahLst/>
              <a:cxnLst/>
              <a:rect l="l" t="t" r="r" b="b"/>
              <a:pathLst>
                <a:path w="5577840" h="233680">
                  <a:moveTo>
                    <a:pt x="0" y="0"/>
                  </a:moveTo>
                  <a:lnTo>
                    <a:pt x="5577840" y="0"/>
                  </a:lnTo>
                  <a:lnTo>
                    <a:pt x="5577840" y="233680"/>
                  </a:lnTo>
                  <a:lnTo>
                    <a:pt x="0" y="23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5099" b="-41509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5577840" cy="262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DID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215640" y="5705475"/>
            <a:ext cx="4183380" cy="159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22"/>
                </a:solidFill>
                <a:latin typeface="Calibri (MS)"/>
                <a:ea typeface="Calibri (MS)"/>
                <a:cs typeface="Calibri (MS)"/>
                <a:sym typeface="Calibri (MS)"/>
              </a:rPr>
              <a:t>Filled with the typical value for the same supplier, plus a “was missing” flag.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3215640" y="7216140"/>
            <a:ext cx="4183380" cy="175260"/>
            <a:chOff x="0" y="0"/>
            <a:chExt cx="5577840" cy="2336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577840" cy="233680"/>
            </a:xfrm>
            <a:custGeom>
              <a:avLst/>
              <a:gdLst/>
              <a:ahLst/>
              <a:cxnLst/>
              <a:rect l="l" t="t" r="r" b="b"/>
              <a:pathLst>
                <a:path w="5577840" h="233680">
                  <a:moveTo>
                    <a:pt x="0" y="0"/>
                  </a:moveTo>
                  <a:lnTo>
                    <a:pt x="5577840" y="0"/>
                  </a:lnTo>
                  <a:lnTo>
                    <a:pt x="5577840" y="233680"/>
                  </a:lnTo>
                  <a:lnTo>
                    <a:pt x="0" y="23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5099" b="-41509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5577840" cy="262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215640" y="7465695"/>
            <a:ext cx="445770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22"/>
                </a:solidFill>
                <a:latin typeface="Calibri (MS)"/>
                <a:ea typeface="Calibri (MS)"/>
                <a:cs typeface="Calibri (MS)"/>
                <a:sym typeface="Calibri (MS)"/>
              </a:rPr>
              <a:t>Deleting rows would lose data in 3 columns, and a missing value can itself signal a supply problem.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928860" y="2773680"/>
            <a:ext cx="5280660" cy="6515100"/>
            <a:chOff x="0" y="0"/>
            <a:chExt cx="7040880" cy="8686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040880" cy="8686800"/>
            </a:xfrm>
            <a:custGeom>
              <a:avLst/>
              <a:gdLst/>
              <a:ahLst/>
              <a:cxnLst/>
              <a:rect l="l" t="t" r="r" b="b"/>
              <a:pathLst>
                <a:path w="7040880" h="8686800">
                  <a:moveTo>
                    <a:pt x="0" y="0"/>
                  </a:moveTo>
                  <a:lnTo>
                    <a:pt x="7040880" y="0"/>
                  </a:lnTo>
                  <a:lnTo>
                    <a:pt x="7040880" y="8686800"/>
                  </a:lnTo>
                  <a:lnTo>
                    <a:pt x="0" y="86868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824960" y="9608820"/>
            <a:ext cx="571500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6B62"/>
                </a:solidFill>
                <a:latin typeface="Calibri (MS)"/>
                <a:ea typeface="Calibri (MS)"/>
                <a:cs typeface="Calibri (MS)"/>
                <a:sym typeface="Calibri (MS)"/>
              </a:rPr>
              <a:t>48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5197185" y="41891"/>
            <a:ext cx="3069126" cy="957863"/>
            <a:chOff x="0" y="0"/>
            <a:chExt cx="4092169" cy="1277150"/>
          </a:xfrm>
        </p:grpSpPr>
        <p:sp>
          <p:nvSpPr>
            <p:cNvPr id="42" name="Freeform 42" descr="A close up of a logo  AI-generated content may be incorrect."/>
            <p:cNvSpPr/>
            <p:nvPr/>
          </p:nvSpPr>
          <p:spPr>
            <a:xfrm>
              <a:off x="0" y="0"/>
              <a:ext cx="4092194" cy="1277112"/>
            </a:xfrm>
            <a:custGeom>
              <a:avLst/>
              <a:gdLst/>
              <a:ahLst/>
              <a:cxnLst/>
              <a:rect l="l" t="t" r="r" b="b"/>
              <a:pathLst>
                <a:path w="4092194" h="1277112">
                  <a:moveTo>
                    <a:pt x="0" y="0"/>
                  </a:moveTo>
                  <a:lnTo>
                    <a:pt x="4092194" y="0"/>
                  </a:lnTo>
                  <a:lnTo>
                    <a:pt x="4092194" y="1277112"/>
                  </a:lnTo>
                  <a:lnTo>
                    <a:pt x="0" y="1277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638" t="6669" r="-5904" b="-274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3" name="Picture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1076" y="2086356"/>
            <a:ext cx="6480048" cy="79735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9601200"/>
            <a:ext cx="13716000" cy="411480"/>
            <a:chOff x="0" y="0"/>
            <a:chExt cx="182880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548640"/>
            </a:xfrm>
            <a:custGeom>
              <a:avLst/>
              <a:gdLst/>
              <a:ahLst/>
              <a:cxnLst/>
              <a:rect l="l" t="t" r="r" b="b"/>
              <a:pathLst>
                <a:path w="18288000" h="54864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9501" b="-5995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Source: PANDA.csv (1,000,000 records x 26 columns) · Phase 3 notebook · synthetic academic dataset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576072"/>
            <a:ext cx="10972800" cy="411480"/>
            <a:chOff x="0" y="0"/>
            <a:chExt cx="14630400" cy="548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WE FIXED IT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2960" y="1078230"/>
            <a:ext cx="16596360" cy="152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1B2A22"/>
                </a:solidFill>
                <a:latin typeface="Georgia"/>
                <a:ea typeface="Georgia"/>
                <a:cs typeface="Georgia"/>
                <a:sym typeface="Georgia"/>
              </a:rPr>
              <a:t>We fixed three data problems without throwing away real business signals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720340" y="2743200"/>
            <a:ext cx="5280660" cy="6515100"/>
            <a:chOff x="0" y="0"/>
            <a:chExt cx="7040880" cy="8686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40880" cy="8686800"/>
            </a:xfrm>
            <a:custGeom>
              <a:avLst/>
              <a:gdLst/>
              <a:ahLst/>
              <a:cxnLst/>
              <a:rect l="l" t="t" r="r" b="b"/>
              <a:pathLst>
                <a:path w="7040880" h="8686800">
                  <a:moveTo>
                    <a:pt x="0" y="0"/>
                  </a:moveTo>
                  <a:lnTo>
                    <a:pt x="7040880" y="0"/>
                  </a:lnTo>
                  <a:lnTo>
                    <a:pt x="7040880" y="8686800"/>
                  </a:lnTo>
                  <a:lnTo>
                    <a:pt x="0" y="86868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31820" y="3017520"/>
            <a:ext cx="4457700" cy="548640"/>
            <a:chOff x="0" y="0"/>
            <a:chExt cx="594360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5943600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5C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Extreme values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31820" y="3703320"/>
            <a:ext cx="1783080" cy="822960"/>
            <a:chOff x="0" y="0"/>
            <a:chExt cx="2377440" cy="1097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77440" cy="1097280"/>
            </a:xfrm>
            <a:custGeom>
              <a:avLst/>
              <a:gdLst/>
              <a:ahLst/>
              <a:cxnLst/>
              <a:rect l="l" t="t" r="r" b="b"/>
              <a:pathLst>
                <a:path w="2377440" h="1097280">
                  <a:moveTo>
                    <a:pt x="0" y="0"/>
                  </a:moveTo>
                  <a:lnTo>
                    <a:pt x="2377440" y="0"/>
                  </a:lnTo>
                  <a:lnTo>
                    <a:pt x="237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r="-9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237744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>
                  <a:solidFill>
                    <a:srgbClr val="D9482B"/>
                  </a:solidFill>
                  <a:latin typeface="Georgia"/>
                  <a:ea typeface="Georgia"/>
                  <a:cs typeface="Georgia"/>
                  <a:sym typeface="Georgia"/>
                </a:rPr>
                <a:t>4.04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14900" y="3703320"/>
            <a:ext cx="685800" cy="822960"/>
            <a:chOff x="0" y="0"/>
            <a:chExt cx="914400" cy="1097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1097280"/>
            </a:xfrm>
            <a:custGeom>
              <a:avLst/>
              <a:gdLst/>
              <a:ahLst/>
              <a:cxnLst/>
              <a:rect l="l" t="t" r="r" b="b"/>
              <a:pathLst>
                <a:path w="914400" h="1097280">
                  <a:moveTo>
                    <a:pt x="0" y="0"/>
                  </a:moveTo>
                  <a:lnTo>
                    <a:pt x="914400" y="0"/>
                  </a:lnTo>
                  <a:lnTo>
                    <a:pt x="91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914400" cy="1183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37860" y="3703320"/>
            <a:ext cx="1783080" cy="822960"/>
            <a:chOff x="0" y="0"/>
            <a:chExt cx="237744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77440" cy="1097280"/>
            </a:xfrm>
            <a:custGeom>
              <a:avLst/>
              <a:gdLst/>
              <a:ahLst/>
              <a:cxnLst/>
              <a:rect l="l" t="t" r="r" b="b"/>
              <a:pathLst>
                <a:path w="2377440" h="1097280">
                  <a:moveTo>
                    <a:pt x="0" y="0"/>
                  </a:moveTo>
                  <a:lnTo>
                    <a:pt x="2377440" y="0"/>
                  </a:lnTo>
                  <a:lnTo>
                    <a:pt x="237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r="-9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237744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>
                  <a:solidFill>
                    <a:srgbClr val="1F5C3B"/>
                  </a:solidFill>
                  <a:latin typeface="Georgia"/>
                  <a:ea typeface="Georgia"/>
                  <a:cs typeface="Georgia"/>
                  <a:sym typeface="Georgia"/>
                </a:rPr>
                <a:t>0.02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131820" y="4526280"/>
            <a:ext cx="1783080" cy="342900"/>
            <a:chOff x="0" y="0"/>
            <a:chExt cx="2377440" cy="45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77440" cy="457200"/>
            </a:xfrm>
            <a:custGeom>
              <a:avLst/>
              <a:gdLst/>
              <a:ahLst/>
              <a:cxnLst/>
              <a:rect l="l" t="t" r="r" b="b"/>
              <a:pathLst>
                <a:path w="2377440" h="45720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22" b="-513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37744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5A6B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37860" y="4526280"/>
            <a:ext cx="1783080" cy="342900"/>
            <a:chOff x="0" y="0"/>
            <a:chExt cx="2377440" cy="457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377440" cy="457200"/>
            </a:xfrm>
            <a:custGeom>
              <a:avLst/>
              <a:gdLst/>
              <a:ahLst/>
              <a:cxnLst/>
              <a:rect l="l" t="t" r="r" b="b"/>
              <a:pathLst>
                <a:path w="2377440" h="45720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22" b="-513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37744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5A6B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131820" y="4899660"/>
            <a:ext cx="4457700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5A6B6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skew of weekly sales (how lopsided it is)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131820" y="5760720"/>
            <a:ext cx="4457700" cy="342900"/>
            <a:chOff x="0" y="0"/>
            <a:chExt cx="5943600" cy="457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943600" cy="457200"/>
            </a:xfrm>
            <a:custGeom>
              <a:avLst/>
              <a:gdLst/>
              <a:ahLst/>
              <a:cxnLst/>
              <a:rect l="l" t="t" r="r" b="b"/>
              <a:pathLst>
                <a:path w="5943600" h="457200">
                  <a:moveTo>
                    <a:pt x="0" y="0"/>
                  </a:moveTo>
                  <a:lnTo>
                    <a:pt x="5943600" y="0"/>
                  </a:lnTo>
                  <a:lnTo>
                    <a:pt x="5943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5943600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DID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131820" y="6055995"/>
            <a:ext cx="4457700" cy="121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22"/>
                </a:solidFill>
                <a:latin typeface="Calibri (MS)"/>
                <a:ea typeface="Calibri (MS)"/>
                <a:cs typeface="Calibri (MS)"/>
                <a:sym typeface="Calibri (MS)"/>
              </a:rPr>
              <a:t>Kept real peaks. Capped predictors at the 99.9th percentile and log-transformed sales.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3131820" y="7338060"/>
            <a:ext cx="4457700" cy="342900"/>
            <a:chOff x="0" y="0"/>
            <a:chExt cx="5943600" cy="457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43600" cy="457200"/>
            </a:xfrm>
            <a:custGeom>
              <a:avLst/>
              <a:gdLst/>
              <a:ahLst/>
              <a:cxnLst/>
              <a:rect l="l" t="t" r="r" b="b"/>
              <a:pathLst>
                <a:path w="5943600" h="457200">
                  <a:moveTo>
                    <a:pt x="0" y="0"/>
                  </a:moveTo>
                  <a:lnTo>
                    <a:pt x="5943600" y="0"/>
                  </a:lnTo>
                  <a:lnTo>
                    <a:pt x="5943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5943600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131820" y="7633335"/>
            <a:ext cx="445770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22"/>
                </a:solidFill>
                <a:latin typeface="Calibri (MS)"/>
                <a:ea typeface="Calibri (MS)"/>
                <a:cs typeface="Calibri (MS)"/>
                <a:sym typeface="Calibri (MS)"/>
              </a:rPr>
              <a:t>Promotions and big stores create real demand. Deleting them would hide the busiest days.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814560" y="2743200"/>
            <a:ext cx="5280660" cy="6515100"/>
            <a:chOff x="0" y="0"/>
            <a:chExt cx="7040880" cy="8686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040880" cy="8686800"/>
            </a:xfrm>
            <a:custGeom>
              <a:avLst/>
              <a:gdLst/>
              <a:ahLst/>
              <a:cxnLst/>
              <a:rect l="l" t="t" r="r" b="b"/>
              <a:pathLst>
                <a:path w="7040880" h="8686800">
                  <a:moveTo>
                    <a:pt x="0" y="0"/>
                  </a:moveTo>
                  <a:lnTo>
                    <a:pt x="7040880" y="0"/>
                  </a:lnTo>
                  <a:lnTo>
                    <a:pt x="7040880" y="8686800"/>
                  </a:lnTo>
                  <a:lnTo>
                    <a:pt x="0" y="868680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226040" y="3017520"/>
            <a:ext cx="4457700" cy="548640"/>
            <a:chOff x="0" y="0"/>
            <a:chExt cx="5943600" cy="7315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943600" cy="731520"/>
            </a:xfrm>
            <a:custGeom>
              <a:avLst/>
              <a:gdLst/>
              <a:ahLst/>
              <a:cxnLst/>
              <a:rect l="l" t="t" r="r" b="b"/>
              <a:pathLst>
                <a:path w="5943600" h="73152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66675"/>
              <a:ext cx="5943600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1F5C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Text categories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226040" y="3703320"/>
            <a:ext cx="1783080" cy="822960"/>
            <a:chOff x="0" y="0"/>
            <a:chExt cx="2377440" cy="10972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377440" cy="1097280"/>
            </a:xfrm>
            <a:custGeom>
              <a:avLst/>
              <a:gdLst/>
              <a:ahLst/>
              <a:cxnLst/>
              <a:rect l="l" t="t" r="r" b="b"/>
              <a:pathLst>
                <a:path w="2377440" h="1097280">
                  <a:moveTo>
                    <a:pt x="0" y="0"/>
                  </a:moveTo>
                  <a:lnTo>
                    <a:pt x="2377440" y="0"/>
                  </a:lnTo>
                  <a:lnTo>
                    <a:pt x="237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r="-9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237744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>
                  <a:solidFill>
                    <a:srgbClr val="D9482B"/>
                  </a:solidFill>
                  <a:latin typeface="Georgia"/>
                  <a:ea typeface="Georgia"/>
                  <a:cs typeface="Georgia"/>
                  <a:sym typeface="Georgia"/>
                </a:rPr>
                <a:t>7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612880" y="3703320"/>
            <a:ext cx="685800" cy="822960"/>
            <a:chOff x="0" y="0"/>
            <a:chExt cx="914400" cy="10972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14400" cy="1097280"/>
            </a:xfrm>
            <a:custGeom>
              <a:avLst/>
              <a:gdLst/>
              <a:ahLst/>
              <a:cxnLst/>
              <a:rect l="l" t="t" r="r" b="b"/>
              <a:pathLst>
                <a:path w="914400" h="1097280">
                  <a:moveTo>
                    <a:pt x="0" y="0"/>
                  </a:moveTo>
                  <a:lnTo>
                    <a:pt x="914400" y="0"/>
                  </a:lnTo>
                  <a:lnTo>
                    <a:pt x="914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964" r="-1039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914400" cy="1183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832080" y="3703320"/>
            <a:ext cx="1783080" cy="822960"/>
            <a:chOff x="0" y="0"/>
            <a:chExt cx="2377440" cy="10972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377440" cy="1097280"/>
            </a:xfrm>
            <a:custGeom>
              <a:avLst/>
              <a:gdLst/>
              <a:ahLst/>
              <a:cxnLst/>
              <a:rect l="l" t="t" r="r" b="b"/>
              <a:pathLst>
                <a:path w="2377440" h="1097280">
                  <a:moveTo>
                    <a:pt x="0" y="0"/>
                  </a:moveTo>
                  <a:lnTo>
                    <a:pt x="2377440" y="0"/>
                  </a:lnTo>
                  <a:lnTo>
                    <a:pt x="237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r="-9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237744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>
                  <a:solidFill>
                    <a:srgbClr val="1F5C3B"/>
                  </a:solidFill>
                  <a:latin typeface="Georgia"/>
                  <a:ea typeface="Georgia"/>
                  <a:cs typeface="Georgia"/>
                  <a:sym typeface="Georgia"/>
                </a:rPr>
                <a:t>6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226040" y="4526280"/>
            <a:ext cx="1783080" cy="342900"/>
            <a:chOff x="0" y="0"/>
            <a:chExt cx="2377440" cy="457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377440" cy="457200"/>
            </a:xfrm>
            <a:custGeom>
              <a:avLst/>
              <a:gdLst/>
              <a:ahLst/>
              <a:cxnLst/>
              <a:rect l="l" t="t" r="r" b="b"/>
              <a:pathLst>
                <a:path w="2377440" h="45720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22" b="-513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237744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5A6B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832080" y="4526280"/>
            <a:ext cx="1783080" cy="342900"/>
            <a:chOff x="0" y="0"/>
            <a:chExt cx="2377440" cy="4572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377440" cy="457200"/>
            </a:xfrm>
            <a:custGeom>
              <a:avLst/>
              <a:gdLst/>
              <a:ahLst/>
              <a:cxnLst/>
              <a:rect l="l" t="t" r="r" b="b"/>
              <a:pathLst>
                <a:path w="2377440" h="457200">
                  <a:moveTo>
                    <a:pt x="0" y="0"/>
                  </a:moveTo>
                  <a:lnTo>
                    <a:pt x="2377440" y="0"/>
                  </a:lnTo>
                  <a:lnTo>
                    <a:pt x="23774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22" b="-513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237744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5A6B6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0226040" y="4899660"/>
            <a:ext cx="4457700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5A6B6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category labels (“ produce ” vs Produce)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0226040" y="5760720"/>
            <a:ext cx="4457700" cy="342900"/>
            <a:chOff x="0" y="0"/>
            <a:chExt cx="5943600" cy="457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943600" cy="457200"/>
            </a:xfrm>
            <a:custGeom>
              <a:avLst/>
              <a:gdLst/>
              <a:ahLst/>
              <a:cxnLst/>
              <a:rect l="l" t="t" r="r" b="b"/>
              <a:pathLst>
                <a:path w="5943600" h="457200">
                  <a:moveTo>
                    <a:pt x="0" y="0"/>
                  </a:moveTo>
                  <a:lnTo>
                    <a:pt x="5943600" y="0"/>
                  </a:lnTo>
                  <a:lnTo>
                    <a:pt x="5943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28575"/>
              <a:ext cx="5943600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DID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0226040" y="6055995"/>
            <a:ext cx="4457700" cy="121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22"/>
                </a:solidFill>
                <a:latin typeface="Calibri (MS)"/>
                <a:ea typeface="Calibri (MS)"/>
                <a:cs typeface="Calibri (MS)"/>
                <a:sym typeface="Calibri (MS)"/>
              </a:rPr>
              <a:t>Cleaned labels and one-hot encoded small fields. IDs are encoded by frequency instead.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0226040" y="7338060"/>
            <a:ext cx="4457700" cy="342900"/>
            <a:chOff x="0" y="0"/>
            <a:chExt cx="5943600" cy="4572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943600" cy="457200"/>
            </a:xfrm>
            <a:custGeom>
              <a:avLst/>
              <a:gdLst/>
              <a:ahLst/>
              <a:cxnLst/>
              <a:rect l="l" t="t" r="r" b="b"/>
              <a:pathLst>
                <a:path w="5943600" h="457200">
                  <a:moveTo>
                    <a:pt x="0" y="0"/>
                  </a:moveTo>
                  <a:lnTo>
                    <a:pt x="5943600" y="0"/>
                  </a:lnTo>
                  <a:lnTo>
                    <a:pt x="5943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5943600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0226040" y="7633335"/>
            <a:ext cx="445770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22"/>
                </a:solidFill>
                <a:latin typeface="Calibri (MS)"/>
                <a:ea typeface="Calibri (MS)"/>
                <a:cs typeface="Calibri (MS)"/>
                <a:sym typeface="Calibri (MS)"/>
              </a:rPr>
              <a:t>A product spelled two ways counts twice. One-hot on 149,827 SKU IDs would explode the table.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6824960" y="9608820"/>
            <a:ext cx="571500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6B62"/>
                </a:solidFill>
                <a:latin typeface="Calibri (MS)"/>
                <a:ea typeface="Calibri (MS)"/>
                <a:cs typeface="Calibri (MS)"/>
                <a:sym typeface="Calibri (MS)"/>
              </a:rPr>
              <a:t>49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15197185" y="41891"/>
            <a:ext cx="3069126" cy="957863"/>
            <a:chOff x="0" y="0"/>
            <a:chExt cx="4092169" cy="1277150"/>
          </a:xfrm>
        </p:grpSpPr>
        <p:sp>
          <p:nvSpPr>
            <p:cNvPr id="69" name="Freeform 69" descr="A close up of a logo  AI-generated content may be incorrect."/>
            <p:cNvSpPr/>
            <p:nvPr/>
          </p:nvSpPr>
          <p:spPr>
            <a:xfrm>
              <a:off x="0" y="0"/>
              <a:ext cx="4092194" cy="1277112"/>
            </a:xfrm>
            <a:custGeom>
              <a:avLst/>
              <a:gdLst/>
              <a:ahLst/>
              <a:cxnLst/>
              <a:rect l="l" t="t" r="r" b="b"/>
              <a:pathLst>
                <a:path w="4092194" h="1277112">
                  <a:moveTo>
                    <a:pt x="0" y="0"/>
                  </a:moveTo>
                  <a:lnTo>
                    <a:pt x="4092194" y="0"/>
                  </a:lnTo>
                  <a:lnTo>
                    <a:pt x="4092194" y="1277112"/>
                  </a:lnTo>
                  <a:lnTo>
                    <a:pt x="0" y="1277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638" t="6669" r="-5904" b="-274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9601200"/>
            <a:ext cx="13716000" cy="411480"/>
            <a:chOff x="0" y="0"/>
            <a:chExt cx="18288000" cy="548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548640"/>
            </a:xfrm>
            <a:custGeom>
              <a:avLst/>
              <a:gdLst/>
              <a:ahLst/>
              <a:cxnLst/>
              <a:rect l="l" t="t" r="r" b="b"/>
              <a:pathLst>
                <a:path w="18288000" h="54864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9501" b="-5995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880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Source: PANDA.csv (1,000,000 records x 26 columns) · Phase 3 notebook · synthetic academic dataset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576072"/>
            <a:ext cx="10972800" cy="411480"/>
            <a:chOff x="0" y="0"/>
            <a:chExt cx="14630400" cy="548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601" b="-4696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449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WE WILL ANALYSE IT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2960" y="1078230"/>
            <a:ext cx="16596360" cy="152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1B2A22"/>
                </a:solidFill>
                <a:latin typeface="Georgia"/>
                <a:ea typeface="Georgia"/>
                <a:cs typeface="Georgia"/>
                <a:sym typeface="Georgia"/>
              </a:rPr>
              <a:t>Three business questions drive our analysis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22960" y="2743200"/>
            <a:ext cx="16664940" cy="1783080"/>
            <a:chOff x="0" y="0"/>
            <a:chExt cx="22219920" cy="23774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19920" cy="2377440"/>
            </a:xfrm>
            <a:custGeom>
              <a:avLst/>
              <a:gdLst/>
              <a:ahLst/>
              <a:cxnLst/>
              <a:rect l="l" t="t" r="r" b="b"/>
              <a:pathLst>
                <a:path w="22219920" h="2377440">
                  <a:moveTo>
                    <a:pt x="0" y="0"/>
                  </a:moveTo>
                  <a:lnTo>
                    <a:pt x="22219920" y="0"/>
                  </a:lnTo>
                  <a:lnTo>
                    <a:pt x="22219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5860" y="2907792"/>
            <a:ext cx="3154680" cy="891540"/>
            <a:chOff x="0" y="0"/>
            <a:chExt cx="4206240" cy="1188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06240" cy="1188720"/>
            </a:xfrm>
            <a:custGeom>
              <a:avLst/>
              <a:gdLst/>
              <a:ahLst/>
              <a:cxnLst/>
              <a:rect l="l" t="t" r="r" b="b"/>
              <a:pathLst>
                <a:path w="4206240" h="118872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47" b="-18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206240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1F5C3B"/>
                  </a:solidFill>
                  <a:latin typeface="Georgia"/>
                  <a:ea typeface="Georgia"/>
                  <a:cs typeface="Georgia"/>
                  <a:sym typeface="Georgia"/>
                </a:rPr>
                <a:t>79.8%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65860" y="3811905"/>
            <a:ext cx="3154680" cy="60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A6B62"/>
                </a:solidFill>
                <a:latin typeface="Calibri (MS)"/>
                <a:ea typeface="Calibri (MS)"/>
                <a:cs typeface="Calibri (MS)"/>
                <a:sym typeface="Calibri (MS)"/>
              </a:rPr>
              <a:t>of store-category weeks have sales history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63440" y="2743200"/>
            <a:ext cx="6309360" cy="1783080"/>
            <a:chOff x="0" y="0"/>
            <a:chExt cx="8412480" cy="23774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412480" cy="2377440"/>
            </a:xfrm>
            <a:custGeom>
              <a:avLst/>
              <a:gdLst/>
              <a:ahLst/>
              <a:cxnLst/>
              <a:rect l="l" t="t" r="r" b="b"/>
              <a:pathLst>
                <a:path w="8412480" h="2377440">
                  <a:moveTo>
                    <a:pt x="0" y="0"/>
                  </a:moveTo>
                  <a:lnTo>
                    <a:pt x="8412480" y="0"/>
                  </a:lnTo>
                  <a:lnTo>
                    <a:pt x="8412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47" b="-18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8412480" cy="2434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B2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much will each store sell next week?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Weekly demand forecast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521440" y="2743200"/>
            <a:ext cx="5623560" cy="1783080"/>
            <a:chOff x="0" y="0"/>
            <a:chExt cx="7498080" cy="23774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98080" cy="2377440"/>
            </a:xfrm>
            <a:custGeom>
              <a:avLst/>
              <a:gdLst/>
              <a:ahLst/>
              <a:cxnLst/>
              <a:rect l="l" t="t" r="r" b="b"/>
              <a:pathLst>
                <a:path w="7498080" h="2377440">
                  <a:moveTo>
                    <a:pt x="0" y="0"/>
                  </a:moveTo>
                  <a:lnTo>
                    <a:pt x="7498080" y="0"/>
                  </a:lnTo>
                  <a:lnTo>
                    <a:pt x="74980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52" b="-114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7498080" cy="2406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DECISION IT SUPPORTS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the right quantity from suppliers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2960" y="4800600"/>
            <a:ext cx="16664940" cy="1783080"/>
            <a:chOff x="0" y="0"/>
            <a:chExt cx="22219920" cy="23774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219920" cy="2377440"/>
            </a:xfrm>
            <a:custGeom>
              <a:avLst/>
              <a:gdLst/>
              <a:ahLst/>
              <a:cxnLst/>
              <a:rect l="l" t="t" r="r" b="b"/>
              <a:pathLst>
                <a:path w="22219920" h="2377440">
                  <a:moveTo>
                    <a:pt x="0" y="0"/>
                  </a:moveTo>
                  <a:lnTo>
                    <a:pt x="22219920" y="0"/>
                  </a:lnTo>
                  <a:lnTo>
                    <a:pt x="22219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65860" y="4965192"/>
            <a:ext cx="3154680" cy="891540"/>
            <a:chOff x="0" y="0"/>
            <a:chExt cx="4206240" cy="11887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06240" cy="1188720"/>
            </a:xfrm>
            <a:custGeom>
              <a:avLst/>
              <a:gdLst/>
              <a:ahLst/>
              <a:cxnLst/>
              <a:rect l="l" t="t" r="r" b="b"/>
              <a:pathLst>
                <a:path w="4206240" h="118872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47" b="-18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4206240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1F5C3B"/>
                  </a:solidFill>
                  <a:latin typeface="Georgia"/>
                  <a:ea typeface="Georgia"/>
                  <a:cs typeface="Georgia"/>
                  <a:sym typeface="Georgia"/>
                </a:rPr>
                <a:t>2.5%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65860" y="5869305"/>
            <a:ext cx="3154680" cy="60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A6B62"/>
                </a:solidFill>
                <a:latin typeface="Calibri (MS)"/>
                <a:ea typeface="Calibri (MS)"/>
                <a:cs typeface="Calibri (MS)"/>
                <a:sym typeface="Calibri (MS)"/>
              </a:rPr>
              <a:t>of batch records are stockouts (rare events)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663440" y="4800600"/>
            <a:ext cx="6309360" cy="1783080"/>
            <a:chOff x="0" y="0"/>
            <a:chExt cx="8412480" cy="23774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412480" cy="2377440"/>
            </a:xfrm>
            <a:custGeom>
              <a:avLst/>
              <a:gdLst/>
              <a:ahLst/>
              <a:cxnLst/>
              <a:rect l="l" t="t" r="r" b="b"/>
              <a:pathLst>
                <a:path w="8412480" h="2377440">
                  <a:moveTo>
                    <a:pt x="0" y="0"/>
                  </a:moveTo>
                  <a:lnTo>
                    <a:pt x="8412480" y="0"/>
                  </a:lnTo>
                  <a:lnTo>
                    <a:pt x="8412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47" b="-18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8412480" cy="2434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B2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Which items will run out today?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Stockout alert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521440" y="4800600"/>
            <a:ext cx="5623560" cy="1783080"/>
            <a:chOff x="0" y="0"/>
            <a:chExt cx="7498080" cy="2377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498080" cy="2377440"/>
            </a:xfrm>
            <a:custGeom>
              <a:avLst/>
              <a:gdLst/>
              <a:ahLst/>
              <a:cxnLst/>
              <a:rect l="l" t="t" r="r" b="b"/>
              <a:pathLst>
                <a:path w="7498080" h="2377440">
                  <a:moveTo>
                    <a:pt x="0" y="0"/>
                  </a:moveTo>
                  <a:lnTo>
                    <a:pt x="7498080" y="0"/>
                  </a:lnTo>
                  <a:lnTo>
                    <a:pt x="74980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52" b="-114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7498080" cy="2406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DECISION IT SUPPORTS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Refill the right shelves first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2960" y="6858000"/>
            <a:ext cx="16664940" cy="1783080"/>
            <a:chOff x="0" y="0"/>
            <a:chExt cx="22219920" cy="23774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219920" cy="2377440"/>
            </a:xfrm>
            <a:custGeom>
              <a:avLst/>
              <a:gdLst/>
              <a:ahLst/>
              <a:cxnLst/>
              <a:rect l="l" t="t" r="r" b="b"/>
              <a:pathLst>
                <a:path w="22219920" h="2377440">
                  <a:moveTo>
                    <a:pt x="0" y="0"/>
                  </a:moveTo>
                  <a:lnTo>
                    <a:pt x="22219920" y="0"/>
                  </a:lnTo>
                  <a:lnTo>
                    <a:pt x="2221992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EEF4F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65860" y="7022592"/>
            <a:ext cx="3154680" cy="891540"/>
            <a:chOff x="0" y="0"/>
            <a:chExt cx="4206240" cy="11887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06240" cy="1188720"/>
            </a:xfrm>
            <a:custGeom>
              <a:avLst/>
              <a:gdLst/>
              <a:ahLst/>
              <a:cxnLst/>
              <a:rect l="l" t="t" r="r" b="b"/>
              <a:pathLst>
                <a:path w="4206240" h="1188720">
                  <a:moveTo>
                    <a:pt x="0" y="0"/>
                  </a:moveTo>
                  <a:lnTo>
                    <a:pt x="4206240" y="0"/>
                  </a:lnTo>
                  <a:lnTo>
                    <a:pt x="420624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47" b="-18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4206240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>
                  <a:solidFill>
                    <a:srgbClr val="1F5C3B"/>
                  </a:solidFill>
                  <a:latin typeface="Georgia"/>
                  <a:ea typeface="Georgia"/>
                  <a:cs typeface="Georgia"/>
                  <a:sym typeface="Georgia"/>
                </a:rPr>
                <a:t>7.2%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65860" y="7926705"/>
            <a:ext cx="3154680" cy="60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A6B62"/>
                </a:solidFill>
                <a:latin typeface="Calibri (MS)"/>
                <a:ea typeface="Calibri (MS)"/>
                <a:cs typeface="Calibri (MS)"/>
                <a:sym typeface="Calibri (MS)"/>
              </a:rPr>
              <a:t>of batch records are within 3 days of expiry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4663440" y="6858000"/>
            <a:ext cx="6309360" cy="1783080"/>
            <a:chOff x="0" y="0"/>
            <a:chExt cx="8412480" cy="23774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412480" cy="2377440"/>
            </a:xfrm>
            <a:custGeom>
              <a:avLst/>
              <a:gdLst/>
              <a:ahLst/>
              <a:cxnLst/>
              <a:rect l="l" t="t" r="r" b="b"/>
              <a:pathLst>
                <a:path w="8412480" h="2377440">
                  <a:moveTo>
                    <a:pt x="0" y="0"/>
                  </a:moveTo>
                  <a:lnTo>
                    <a:pt x="8412480" y="0"/>
                  </a:lnTo>
                  <a:lnTo>
                    <a:pt x="8412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47" b="-18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8412480" cy="2434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1B2A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Which batches are close to expiring?</a:t>
              </a: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Near-expiry risk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521440" y="6858000"/>
            <a:ext cx="5623560" cy="1783080"/>
            <a:chOff x="0" y="0"/>
            <a:chExt cx="7498080" cy="23774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498080" cy="2377440"/>
            </a:xfrm>
            <a:custGeom>
              <a:avLst/>
              <a:gdLst/>
              <a:ahLst/>
              <a:cxnLst/>
              <a:rect l="l" t="t" r="r" b="b"/>
              <a:pathLst>
                <a:path w="7498080" h="2377440">
                  <a:moveTo>
                    <a:pt x="0" y="0"/>
                  </a:moveTo>
                  <a:lnTo>
                    <a:pt x="7498080" y="0"/>
                  </a:lnTo>
                  <a:lnTo>
                    <a:pt x="74980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52" b="-114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7498080" cy="2406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DECISION IT SUPPORTS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Discount early, before it becomes waste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22960" y="8915400"/>
            <a:ext cx="16664940" cy="548640"/>
            <a:chOff x="0" y="0"/>
            <a:chExt cx="2221992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2219920" cy="731520"/>
            </a:xfrm>
            <a:custGeom>
              <a:avLst/>
              <a:gdLst/>
              <a:ahLst/>
              <a:cxnLst/>
              <a:rect l="l" t="t" r="r" b="b"/>
              <a:pathLst>
                <a:path w="22219920" h="731520">
                  <a:moveTo>
                    <a:pt x="0" y="0"/>
                  </a:moveTo>
                  <a:lnTo>
                    <a:pt x="22219920" y="0"/>
                  </a:lnTo>
                  <a:lnTo>
                    <a:pt x="22219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1858" b="-5418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2221992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D948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  </a:t>
              </a:r>
              <a:r>
                <a:rPr lang="en-US" sz="2100">
                  <a:solidFill>
                    <a:srgbClr val="1B2A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waste −20–25% · stockouts −25–30%.  </a:t>
              </a:r>
              <a:r>
                <a:rPr lang="en-US" sz="2100">
                  <a:solidFill>
                    <a:srgbClr val="5A6B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Next: Phase 4 trains and tests models on weeks they have never seen.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6824960" y="9608820"/>
            <a:ext cx="571500" cy="35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6B62"/>
                </a:solidFill>
                <a:latin typeface="Calibri (MS)"/>
                <a:ea typeface="Calibri (MS)"/>
                <a:cs typeface="Calibri (MS)"/>
                <a:sym typeface="Calibri (MS)"/>
              </a:rPr>
              <a:t>50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3344906" y="5086"/>
            <a:ext cx="4943475" cy="1585912"/>
            <a:chOff x="0" y="0"/>
            <a:chExt cx="6591300" cy="2114550"/>
          </a:xfrm>
        </p:grpSpPr>
        <p:sp>
          <p:nvSpPr>
            <p:cNvPr id="50" name="Freeform 50" descr="A close up of a logo  AI-generated content may be incorrect."/>
            <p:cNvSpPr/>
            <p:nvPr/>
          </p:nvSpPr>
          <p:spPr>
            <a:xfrm>
              <a:off x="0" y="0"/>
              <a:ext cx="6591300" cy="2114550"/>
            </a:xfrm>
            <a:custGeom>
              <a:avLst/>
              <a:gdLst/>
              <a:ahLst/>
              <a:cxnLst/>
              <a:rect l="l" t="t" r="r" b="b"/>
              <a:pathLst>
                <a:path w="6591300" h="2114550">
                  <a:moveTo>
                    <a:pt x="0" y="0"/>
                  </a:moveTo>
                  <a:lnTo>
                    <a:pt x="6591300" y="0"/>
                  </a:lnTo>
                  <a:lnTo>
                    <a:pt x="6591300" y="2114550"/>
                  </a:lnTo>
                  <a:lnTo>
                    <a:pt x="0" y="2114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20F3F832-314E-4BCB-AA0F-74E21211D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176784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640080"/>
            <a:ext cx="10972800" cy="12801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Panda Visit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612880" y="6400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3200" b="1" dirty="0">
                <a:solidFill>
                  <a:srgbClr val="8CC63F"/>
                </a:solidFill>
              </a:rPr>
              <a:t>زيارة شركة بنده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612880" y="13167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400" dirty="0">
                <a:solidFill>
                  <a:srgbClr val="C9D8CD"/>
                </a:solidFill>
              </a:rPr>
              <a:t>Savola Group HQ  ·  Jeddah</a:t>
            </a:r>
            <a:endParaRPr lang="en-US" sz="2400" dirty="0"/>
          </a:p>
        </p:txBody>
      </p:sp>
      <p:pic>
        <p:nvPicPr>
          <p:cNvPr id="5" name="Group photo" descr="gro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10241280" cy="576072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6" name="Savola HQ night" descr="n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0" y="2651760"/>
            <a:ext cx="5760720" cy="274320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7" name="Corniche aerial" descr="aeria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0" y="5669280"/>
            <a:ext cx="5760720" cy="274320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914400" y="886968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C9D8CD"/>
                </a:solidFill>
              </a:rPr>
              <a:t>EWA AI &amp; Data Science Program  ×  Panda Retail Company (Savola)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640080"/>
            <a:ext cx="10972800" cy="12801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Inside the Visit</a:t>
            </a:r>
          </a:p>
        </p:txBody>
      </p:sp>
      <p:pic>
        <p:nvPicPr>
          <p:cNvPr id="3" name="window.jpg" descr="wind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3474720" cy="621792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4" name="tower.jpg" descr="tow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651760"/>
            <a:ext cx="3474720" cy="621792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5" name="meeting.jpg" descr="meet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651760"/>
            <a:ext cx="3474720" cy="621792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6" name="HQ daytime" descr="da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0" y="2651760"/>
            <a:ext cx="5029200" cy="283464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7" name="Tagline card"/>
          <p:cNvSpPr/>
          <p:nvPr/>
        </p:nvSpPr>
        <p:spPr>
          <a:xfrm>
            <a:off x="12344400" y="5852160"/>
            <a:ext cx="5029200" cy="3017520"/>
          </a:xfrm>
          <a:prstGeom prst="roundRect">
            <a:avLst>
              <a:gd name="adj" fmla="val 4848"/>
            </a:avLst>
          </a:prstGeom>
          <a:solidFill>
            <a:srgbClr val="0F3D24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8" name="Text 2"/>
          <p:cNvSpPr txBox="1"/>
          <p:nvPr/>
        </p:nvSpPr>
        <p:spPr>
          <a:xfrm>
            <a:off x="12710160" y="6126480"/>
            <a:ext cx="4297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sz="4400" b="1" dirty="0">
                <a:solidFill>
                  <a:srgbClr val="FFFFFF"/>
                </a:solidFill>
              </a:rPr>
              <a:t>معك تفرق</a:t>
            </a:r>
            <a:endParaRPr lang="en-US" sz="4400" dirty="0"/>
          </a:p>
          <a:p>
            <a:pPr algn="ctr"/>
            <a:r>
              <a:rPr lang="en-US" sz="3200" dirty="0">
                <a:solidFill>
                  <a:srgbClr val="8CC63F"/>
                </a:solidFill>
              </a:rPr>
              <a:t>Better Together</a:t>
            </a:r>
            <a:endParaRPr lang="en-US" sz="4400" dirty="0"/>
          </a:p>
        </p:txBody>
      </p:sp>
      <p:sp>
        <p:nvSpPr>
          <p:cNvPr id="9" name="Text 3"/>
          <p:cNvSpPr txBox="1"/>
          <p:nvPr/>
        </p:nvSpPr>
        <p:spPr>
          <a:xfrm>
            <a:off x="914400" y="9144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5A6B60"/>
                </a:solidFill>
              </a:rPr>
              <a:t>Panda offices  ·  Ocean-view workspace  ·  Meeting session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5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714500" cy="507492"/>
            <a:chOff x="0" y="0"/>
            <a:chExt cx="2286000" cy="676656"/>
          </a:xfrm>
        </p:grpSpPr>
        <p:sp>
          <p:nvSpPr>
            <p:cNvPr id="3" name="Freeform 3" descr="media/panda_white.png"/>
            <p:cNvSpPr/>
            <p:nvPr/>
          </p:nvSpPr>
          <p:spPr>
            <a:xfrm>
              <a:off x="0" y="0"/>
              <a:ext cx="2286000" cy="676656"/>
            </a:xfrm>
            <a:custGeom>
              <a:avLst/>
              <a:gdLst/>
              <a:ahLst/>
              <a:cxnLst/>
              <a:rect l="l" t="t" r="r" b="b"/>
              <a:pathLst>
                <a:path w="2286000" h="676656">
                  <a:moveTo>
                    <a:pt x="0" y="0"/>
                  </a:moveTo>
                  <a:lnTo>
                    <a:pt x="2286000" y="0"/>
                  </a:lnTo>
                  <a:lnTo>
                    <a:pt x="2286000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" r="-10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22960" y="8983980"/>
            <a:ext cx="1303020" cy="562356"/>
            <a:chOff x="0" y="0"/>
            <a:chExt cx="1737360" cy="749808"/>
          </a:xfrm>
        </p:grpSpPr>
        <p:sp>
          <p:nvSpPr>
            <p:cNvPr id="5" name="Freeform 5" descr="media/savola_white.png"/>
            <p:cNvSpPr/>
            <p:nvPr/>
          </p:nvSpPr>
          <p:spPr>
            <a:xfrm>
              <a:off x="0" y="0"/>
              <a:ext cx="1737360" cy="749808"/>
            </a:xfrm>
            <a:custGeom>
              <a:avLst/>
              <a:gdLst/>
              <a:ahLst/>
              <a:cxnLst/>
              <a:rect l="l" t="t" r="r" b="b"/>
              <a:pathLst>
                <a:path w="1737360" h="749808">
                  <a:moveTo>
                    <a:pt x="0" y="0"/>
                  </a:moveTo>
                  <a:lnTo>
                    <a:pt x="1737360" y="0"/>
                  </a:lnTo>
                  <a:lnTo>
                    <a:pt x="1737360" y="749808"/>
                  </a:lnTo>
                  <a:lnTo>
                    <a:pt x="0" y="749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14" b="-5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38596" y="2364220"/>
            <a:ext cx="8503920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0"/>
              </a:lnSpc>
            </a:pPr>
            <a:endParaRPr/>
          </a:p>
          <a:p>
            <a:pPr algn="l">
              <a:lnSpc>
                <a:spcPts val="11760"/>
              </a:lnSpc>
            </a:pPr>
            <a:r>
              <a:rPr lang="en-US" sz="9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76449" y="-203666"/>
            <a:ext cx="8552000" cy="10528485"/>
            <a:chOff x="0" y="0"/>
            <a:chExt cx="8912905" cy="10972800"/>
          </a:xfrm>
        </p:grpSpPr>
        <p:sp>
          <p:nvSpPr>
            <p:cNvPr id="8" name="Freeform 8" descr="media/cover.jpeg"/>
            <p:cNvSpPr/>
            <p:nvPr/>
          </p:nvSpPr>
          <p:spPr>
            <a:xfrm>
              <a:off x="0" y="0"/>
              <a:ext cx="8912905" cy="10972800"/>
            </a:xfrm>
            <a:custGeom>
              <a:avLst/>
              <a:gdLst/>
              <a:ahLst/>
              <a:cxnLst/>
              <a:rect l="l" t="t" r="r" b="b"/>
              <a:pathLst>
                <a:path w="8912905" h="10972800">
                  <a:moveTo>
                    <a:pt x="0" y="0"/>
                  </a:moveTo>
                  <a:lnTo>
                    <a:pt x="8912905" y="0"/>
                  </a:lnTo>
                  <a:lnTo>
                    <a:pt x="8912905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400" r="-224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1940</Words>
  <Application>Microsoft Office PowerPoint</Application>
  <PresentationFormat>Custom</PresentationFormat>
  <Paragraphs>267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Cambria</vt:lpstr>
      <vt:lpstr>Calibri (MS) Italics</vt:lpstr>
      <vt:lpstr>Arial</vt:lpstr>
      <vt:lpstr>Cambria Bold</vt:lpstr>
      <vt:lpstr>Calibri (MS) Bold</vt:lpstr>
      <vt:lpstr>Calibri (MS)</vt:lpstr>
      <vt:lpstr>Georgia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Panda Visit</vt:lpstr>
      <vt:lpstr>Inside the Visit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نسخة من عرض بندة النهائي الفريق 🔴🔴🔴.pptx</dc:title>
  <dc:creator>EwaAI</dc:creator>
  <cp:lastModifiedBy>Afnan Fahad Aljohani</cp:lastModifiedBy>
  <cp:revision>2</cp:revision>
  <dcterms:created xsi:type="dcterms:W3CDTF">2006-08-16T00:00:00Z</dcterms:created>
  <dcterms:modified xsi:type="dcterms:W3CDTF">2026-10-08T05:28:25Z</dcterms:modified>
  <dc:identifier>DAHXYZ9bxqs</dc:identifier>
</cp:coreProperties>
</file>